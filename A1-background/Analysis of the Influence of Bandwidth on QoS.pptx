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1" r:id="rId5"/>
    <p:sldId id="262" r:id="rId6"/>
    <p:sldId id="264" r:id="rId7"/>
    <p:sldId id="265" r:id="rId8"/>
    <p:sldId id="266"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1212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8" d="100"/>
          <a:sy n="78" d="100"/>
        </p:scale>
        <p:origin x="87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81E3F-7C30-B6E1-ED30-2E3AEFFE342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844F84F-3512-3813-163B-2419F28F995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8C42720-9DC8-F248-DA3A-1F61F68D9147}"/>
              </a:ext>
            </a:extLst>
          </p:cNvPr>
          <p:cNvSpPr>
            <a:spLocks noGrp="1"/>
          </p:cNvSpPr>
          <p:nvPr>
            <p:ph type="dt" sz="half" idx="10"/>
          </p:nvPr>
        </p:nvSpPr>
        <p:spPr/>
        <p:txBody>
          <a:bodyPr/>
          <a:lstStyle/>
          <a:p>
            <a:fld id="{399F7520-E07E-4FCB-AB6E-CD545857A848}" type="datetimeFigureOut">
              <a:rPr lang="en-US" smtClean="0"/>
              <a:t>9/19/2026</a:t>
            </a:fld>
            <a:endParaRPr lang="en-US"/>
          </a:p>
        </p:txBody>
      </p:sp>
      <p:sp>
        <p:nvSpPr>
          <p:cNvPr id="5" name="Footer Placeholder 4">
            <a:extLst>
              <a:ext uri="{FF2B5EF4-FFF2-40B4-BE49-F238E27FC236}">
                <a16:creationId xmlns:a16="http://schemas.microsoft.com/office/drawing/2014/main" id="{1D52945E-75E5-8D93-4372-2CD32A7371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A8FE3F-6EE7-4158-2793-12252B571289}"/>
              </a:ext>
            </a:extLst>
          </p:cNvPr>
          <p:cNvSpPr>
            <a:spLocks noGrp="1"/>
          </p:cNvSpPr>
          <p:nvPr>
            <p:ph type="sldNum" sz="quarter" idx="12"/>
          </p:nvPr>
        </p:nvSpPr>
        <p:spPr/>
        <p:txBody>
          <a:bodyPr/>
          <a:lstStyle/>
          <a:p>
            <a:fld id="{0F9A918B-6B61-42FB-B3D8-F4A40E4B3044}" type="slidenum">
              <a:rPr lang="en-US" smtClean="0"/>
              <a:t>‹#›</a:t>
            </a:fld>
            <a:endParaRPr lang="en-US"/>
          </a:p>
        </p:txBody>
      </p:sp>
    </p:spTree>
    <p:extLst>
      <p:ext uri="{BB962C8B-B14F-4D97-AF65-F5344CB8AC3E}">
        <p14:creationId xmlns:p14="http://schemas.microsoft.com/office/powerpoint/2010/main" val="2209745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35423-4556-8246-C745-1334237764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C99AFD2-F855-0C90-3A79-0C2ECDF8446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8D96D2-7E27-097E-4598-8888C9F13AD2}"/>
              </a:ext>
            </a:extLst>
          </p:cNvPr>
          <p:cNvSpPr>
            <a:spLocks noGrp="1"/>
          </p:cNvSpPr>
          <p:nvPr>
            <p:ph type="dt" sz="half" idx="10"/>
          </p:nvPr>
        </p:nvSpPr>
        <p:spPr/>
        <p:txBody>
          <a:bodyPr/>
          <a:lstStyle/>
          <a:p>
            <a:fld id="{399F7520-E07E-4FCB-AB6E-CD545857A848}" type="datetimeFigureOut">
              <a:rPr lang="en-US" smtClean="0"/>
              <a:t>9/19/2026</a:t>
            </a:fld>
            <a:endParaRPr lang="en-US"/>
          </a:p>
        </p:txBody>
      </p:sp>
      <p:sp>
        <p:nvSpPr>
          <p:cNvPr id="5" name="Footer Placeholder 4">
            <a:extLst>
              <a:ext uri="{FF2B5EF4-FFF2-40B4-BE49-F238E27FC236}">
                <a16:creationId xmlns:a16="http://schemas.microsoft.com/office/drawing/2014/main" id="{71613B61-018B-2837-891B-8157CB9D11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252EA0-F43B-FE3C-7230-77087E23812B}"/>
              </a:ext>
            </a:extLst>
          </p:cNvPr>
          <p:cNvSpPr>
            <a:spLocks noGrp="1"/>
          </p:cNvSpPr>
          <p:nvPr>
            <p:ph type="sldNum" sz="quarter" idx="12"/>
          </p:nvPr>
        </p:nvSpPr>
        <p:spPr/>
        <p:txBody>
          <a:bodyPr/>
          <a:lstStyle/>
          <a:p>
            <a:fld id="{0F9A918B-6B61-42FB-B3D8-F4A40E4B3044}" type="slidenum">
              <a:rPr lang="en-US" smtClean="0"/>
              <a:t>‹#›</a:t>
            </a:fld>
            <a:endParaRPr lang="en-US"/>
          </a:p>
        </p:txBody>
      </p:sp>
    </p:spTree>
    <p:extLst>
      <p:ext uri="{BB962C8B-B14F-4D97-AF65-F5344CB8AC3E}">
        <p14:creationId xmlns:p14="http://schemas.microsoft.com/office/powerpoint/2010/main" val="31794964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0BDD0-300B-DF1B-7530-BC9AC47D383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CCAAF62-FE7D-0DB5-7A60-A5D2D9E408E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E03496A-C1B3-855D-EE4D-0CBB9AFE7719}"/>
              </a:ext>
            </a:extLst>
          </p:cNvPr>
          <p:cNvSpPr>
            <a:spLocks noGrp="1"/>
          </p:cNvSpPr>
          <p:nvPr>
            <p:ph type="dt" sz="half" idx="10"/>
          </p:nvPr>
        </p:nvSpPr>
        <p:spPr/>
        <p:txBody>
          <a:bodyPr/>
          <a:lstStyle/>
          <a:p>
            <a:fld id="{399F7520-E07E-4FCB-AB6E-CD545857A848}" type="datetimeFigureOut">
              <a:rPr lang="en-US" smtClean="0"/>
              <a:t>9/19/2026</a:t>
            </a:fld>
            <a:endParaRPr lang="en-US"/>
          </a:p>
        </p:txBody>
      </p:sp>
      <p:sp>
        <p:nvSpPr>
          <p:cNvPr id="5" name="Footer Placeholder 4">
            <a:extLst>
              <a:ext uri="{FF2B5EF4-FFF2-40B4-BE49-F238E27FC236}">
                <a16:creationId xmlns:a16="http://schemas.microsoft.com/office/drawing/2014/main" id="{D1B5452F-C722-7A61-5EFE-4BE44350DB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75372F-2EB8-AA9E-09C0-67194550C06C}"/>
              </a:ext>
            </a:extLst>
          </p:cNvPr>
          <p:cNvSpPr>
            <a:spLocks noGrp="1"/>
          </p:cNvSpPr>
          <p:nvPr>
            <p:ph type="sldNum" sz="quarter" idx="12"/>
          </p:nvPr>
        </p:nvSpPr>
        <p:spPr/>
        <p:txBody>
          <a:bodyPr/>
          <a:lstStyle/>
          <a:p>
            <a:fld id="{0F9A918B-6B61-42FB-B3D8-F4A40E4B3044}" type="slidenum">
              <a:rPr lang="en-US" smtClean="0"/>
              <a:t>‹#›</a:t>
            </a:fld>
            <a:endParaRPr lang="en-US"/>
          </a:p>
        </p:txBody>
      </p:sp>
    </p:spTree>
    <p:extLst>
      <p:ext uri="{BB962C8B-B14F-4D97-AF65-F5344CB8AC3E}">
        <p14:creationId xmlns:p14="http://schemas.microsoft.com/office/powerpoint/2010/main" val="23480383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F8E3C-7355-A055-681C-A39F69B1FE0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A19623-3033-D1F3-76FA-7CE1C2A266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5D72938-A967-AB27-8C1D-4E341EC0A54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6E97C0D-987E-CF0F-5BBF-E30262369A10}"/>
              </a:ext>
            </a:extLst>
          </p:cNvPr>
          <p:cNvSpPr>
            <a:spLocks noGrp="1"/>
          </p:cNvSpPr>
          <p:nvPr>
            <p:ph type="dt" sz="half" idx="10"/>
          </p:nvPr>
        </p:nvSpPr>
        <p:spPr/>
        <p:txBody>
          <a:bodyPr/>
          <a:lstStyle/>
          <a:p>
            <a:fld id="{399F7520-E07E-4FCB-AB6E-CD545857A848}" type="datetimeFigureOut">
              <a:rPr lang="en-US" smtClean="0"/>
              <a:t>9/19/2026</a:t>
            </a:fld>
            <a:endParaRPr lang="en-US"/>
          </a:p>
        </p:txBody>
      </p:sp>
      <p:sp>
        <p:nvSpPr>
          <p:cNvPr id="6" name="Footer Placeholder 5">
            <a:extLst>
              <a:ext uri="{FF2B5EF4-FFF2-40B4-BE49-F238E27FC236}">
                <a16:creationId xmlns:a16="http://schemas.microsoft.com/office/drawing/2014/main" id="{3948807E-D3C0-2F66-D5C3-98F39C6D44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AC18E8-3CA3-DDDF-37C7-26FE0998B343}"/>
              </a:ext>
            </a:extLst>
          </p:cNvPr>
          <p:cNvSpPr>
            <a:spLocks noGrp="1"/>
          </p:cNvSpPr>
          <p:nvPr>
            <p:ph type="sldNum" sz="quarter" idx="12"/>
          </p:nvPr>
        </p:nvSpPr>
        <p:spPr/>
        <p:txBody>
          <a:bodyPr/>
          <a:lstStyle/>
          <a:p>
            <a:fld id="{0F9A918B-6B61-42FB-B3D8-F4A40E4B3044}" type="slidenum">
              <a:rPr lang="en-US" smtClean="0"/>
              <a:t>‹#›</a:t>
            </a:fld>
            <a:endParaRPr lang="en-US"/>
          </a:p>
        </p:txBody>
      </p:sp>
    </p:spTree>
    <p:extLst>
      <p:ext uri="{BB962C8B-B14F-4D97-AF65-F5344CB8AC3E}">
        <p14:creationId xmlns:p14="http://schemas.microsoft.com/office/powerpoint/2010/main" val="314840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514F4-663F-5BD5-38F4-454B55C9586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955007E-E5F3-1E1A-EB7A-CF885439EA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9B992C5-5924-5945-CFCD-1D6F78DB82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9FCD967-33F4-6797-62BF-15EC4F8318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D0DECF7-3F97-48BA-6A02-5F07865B11B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61D1A2B-A8E9-5DB8-CF3A-769AD5671DEC}"/>
              </a:ext>
            </a:extLst>
          </p:cNvPr>
          <p:cNvSpPr>
            <a:spLocks noGrp="1"/>
          </p:cNvSpPr>
          <p:nvPr>
            <p:ph type="dt" sz="half" idx="10"/>
          </p:nvPr>
        </p:nvSpPr>
        <p:spPr/>
        <p:txBody>
          <a:bodyPr/>
          <a:lstStyle/>
          <a:p>
            <a:fld id="{399F7520-E07E-4FCB-AB6E-CD545857A848}" type="datetimeFigureOut">
              <a:rPr lang="en-US" smtClean="0"/>
              <a:t>9/19/2026</a:t>
            </a:fld>
            <a:endParaRPr lang="en-US"/>
          </a:p>
        </p:txBody>
      </p:sp>
      <p:sp>
        <p:nvSpPr>
          <p:cNvPr id="8" name="Footer Placeholder 7">
            <a:extLst>
              <a:ext uri="{FF2B5EF4-FFF2-40B4-BE49-F238E27FC236}">
                <a16:creationId xmlns:a16="http://schemas.microsoft.com/office/drawing/2014/main" id="{3B88FCC3-5FC8-1568-F5DB-F1523611BCF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FED4C7C-27E3-D9E0-AFBF-4C23910D3118}"/>
              </a:ext>
            </a:extLst>
          </p:cNvPr>
          <p:cNvSpPr>
            <a:spLocks noGrp="1"/>
          </p:cNvSpPr>
          <p:nvPr>
            <p:ph type="sldNum" sz="quarter" idx="12"/>
          </p:nvPr>
        </p:nvSpPr>
        <p:spPr/>
        <p:txBody>
          <a:bodyPr/>
          <a:lstStyle/>
          <a:p>
            <a:fld id="{0F9A918B-6B61-42FB-B3D8-F4A40E4B3044}" type="slidenum">
              <a:rPr lang="en-US" smtClean="0"/>
              <a:t>‹#›</a:t>
            </a:fld>
            <a:endParaRPr lang="en-US"/>
          </a:p>
        </p:txBody>
      </p:sp>
    </p:spTree>
    <p:extLst>
      <p:ext uri="{BB962C8B-B14F-4D97-AF65-F5344CB8AC3E}">
        <p14:creationId xmlns:p14="http://schemas.microsoft.com/office/powerpoint/2010/main" val="30675847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AA7FE-916C-704F-5E08-E80D10FA6C3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61885B5-61D0-B799-E625-50BF8A416991}"/>
              </a:ext>
            </a:extLst>
          </p:cNvPr>
          <p:cNvSpPr>
            <a:spLocks noGrp="1"/>
          </p:cNvSpPr>
          <p:nvPr>
            <p:ph type="dt" sz="half" idx="10"/>
          </p:nvPr>
        </p:nvSpPr>
        <p:spPr/>
        <p:txBody>
          <a:bodyPr/>
          <a:lstStyle/>
          <a:p>
            <a:fld id="{399F7520-E07E-4FCB-AB6E-CD545857A848}" type="datetimeFigureOut">
              <a:rPr lang="en-US" smtClean="0"/>
              <a:t>9/19/2026</a:t>
            </a:fld>
            <a:endParaRPr lang="en-US"/>
          </a:p>
        </p:txBody>
      </p:sp>
      <p:sp>
        <p:nvSpPr>
          <p:cNvPr id="4" name="Footer Placeholder 3">
            <a:extLst>
              <a:ext uri="{FF2B5EF4-FFF2-40B4-BE49-F238E27FC236}">
                <a16:creationId xmlns:a16="http://schemas.microsoft.com/office/drawing/2014/main" id="{DA131F41-D05A-BCAE-941B-CF4B2C51062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8BC6824-F432-4AD3-7F5C-049E145A0B2C}"/>
              </a:ext>
            </a:extLst>
          </p:cNvPr>
          <p:cNvSpPr>
            <a:spLocks noGrp="1"/>
          </p:cNvSpPr>
          <p:nvPr>
            <p:ph type="sldNum" sz="quarter" idx="12"/>
          </p:nvPr>
        </p:nvSpPr>
        <p:spPr/>
        <p:txBody>
          <a:bodyPr/>
          <a:lstStyle/>
          <a:p>
            <a:fld id="{0F9A918B-6B61-42FB-B3D8-F4A40E4B3044}" type="slidenum">
              <a:rPr lang="en-US" smtClean="0"/>
              <a:t>‹#›</a:t>
            </a:fld>
            <a:endParaRPr lang="en-US"/>
          </a:p>
        </p:txBody>
      </p:sp>
    </p:spTree>
    <p:extLst>
      <p:ext uri="{BB962C8B-B14F-4D97-AF65-F5344CB8AC3E}">
        <p14:creationId xmlns:p14="http://schemas.microsoft.com/office/powerpoint/2010/main" val="39011450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249DB48-A4B2-19B7-ADDB-04AA84E7D1F3}"/>
              </a:ext>
            </a:extLst>
          </p:cNvPr>
          <p:cNvSpPr>
            <a:spLocks noGrp="1"/>
          </p:cNvSpPr>
          <p:nvPr>
            <p:ph type="dt" sz="half" idx="10"/>
          </p:nvPr>
        </p:nvSpPr>
        <p:spPr/>
        <p:txBody>
          <a:bodyPr/>
          <a:lstStyle/>
          <a:p>
            <a:fld id="{399F7520-E07E-4FCB-AB6E-CD545857A848}" type="datetimeFigureOut">
              <a:rPr lang="en-US" smtClean="0"/>
              <a:t>9/19/2026</a:t>
            </a:fld>
            <a:endParaRPr lang="en-US"/>
          </a:p>
        </p:txBody>
      </p:sp>
      <p:sp>
        <p:nvSpPr>
          <p:cNvPr id="3" name="Footer Placeholder 2">
            <a:extLst>
              <a:ext uri="{FF2B5EF4-FFF2-40B4-BE49-F238E27FC236}">
                <a16:creationId xmlns:a16="http://schemas.microsoft.com/office/drawing/2014/main" id="{799F3F26-AFBA-2B34-A6ED-4069C74462D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A83FB28-DC94-355F-C0F5-A441EDA232B5}"/>
              </a:ext>
            </a:extLst>
          </p:cNvPr>
          <p:cNvSpPr>
            <a:spLocks noGrp="1"/>
          </p:cNvSpPr>
          <p:nvPr>
            <p:ph type="sldNum" sz="quarter" idx="12"/>
          </p:nvPr>
        </p:nvSpPr>
        <p:spPr/>
        <p:txBody>
          <a:bodyPr/>
          <a:lstStyle/>
          <a:p>
            <a:fld id="{0F9A918B-6B61-42FB-B3D8-F4A40E4B3044}" type="slidenum">
              <a:rPr lang="en-US" smtClean="0"/>
              <a:t>‹#›</a:t>
            </a:fld>
            <a:endParaRPr lang="en-US"/>
          </a:p>
        </p:txBody>
      </p:sp>
    </p:spTree>
    <p:extLst>
      <p:ext uri="{BB962C8B-B14F-4D97-AF65-F5344CB8AC3E}">
        <p14:creationId xmlns:p14="http://schemas.microsoft.com/office/powerpoint/2010/main" val="6725597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52CC9-1082-1D67-6B8A-54EE1B08A7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A614A66-D44F-A73F-F29F-F5A58CAD71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D0CF7AF-C52C-C2FD-9D15-668738CFFB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BF744F-F3B3-2203-DCA4-0D7949A7FF52}"/>
              </a:ext>
            </a:extLst>
          </p:cNvPr>
          <p:cNvSpPr>
            <a:spLocks noGrp="1"/>
          </p:cNvSpPr>
          <p:nvPr>
            <p:ph type="dt" sz="half" idx="10"/>
          </p:nvPr>
        </p:nvSpPr>
        <p:spPr/>
        <p:txBody>
          <a:bodyPr/>
          <a:lstStyle/>
          <a:p>
            <a:fld id="{399F7520-E07E-4FCB-AB6E-CD545857A848}" type="datetimeFigureOut">
              <a:rPr lang="en-US" smtClean="0"/>
              <a:t>9/19/2026</a:t>
            </a:fld>
            <a:endParaRPr lang="en-US"/>
          </a:p>
        </p:txBody>
      </p:sp>
      <p:sp>
        <p:nvSpPr>
          <p:cNvPr id="6" name="Footer Placeholder 5">
            <a:extLst>
              <a:ext uri="{FF2B5EF4-FFF2-40B4-BE49-F238E27FC236}">
                <a16:creationId xmlns:a16="http://schemas.microsoft.com/office/drawing/2014/main" id="{63E1683B-B92B-E505-D15D-7A266D39F2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2F1F61-2978-D21B-F129-15ED892864C7}"/>
              </a:ext>
            </a:extLst>
          </p:cNvPr>
          <p:cNvSpPr>
            <a:spLocks noGrp="1"/>
          </p:cNvSpPr>
          <p:nvPr>
            <p:ph type="sldNum" sz="quarter" idx="12"/>
          </p:nvPr>
        </p:nvSpPr>
        <p:spPr/>
        <p:txBody>
          <a:bodyPr/>
          <a:lstStyle/>
          <a:p>
            <a:fld id="{0F9A918B-6B61-42FB-B3D8-F4A40E4B3044}" type="slidenum">
              <a:rPr lang="en-US" smtClean="0"/>
              <a:t>‹#›</a:t>
            </a:fld>
            <a:endParaRPr lang="en-US"/>
          </a:p>
        </p:txBody>
      </p:sp>
    </p:spTree>
    <p:extLst>
      <p:ext uri="{BB962C8B-B14F-4D97-AF65-F5344CB8AC3E}">
        <p14:creationId xmlns:p14="http://schemas.microsoft.com/office/powerpoint/2010/main" val="1061166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C1A08-29C7-BA7C-253A-369FB3951B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59BEC59-20D6-F277-2301-F1FF895D31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E2241A7-243C-A3FD-9700-91E11E5564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D3ACB7-0ED4-2286-18D9-5584A1FB4762}"/>
              </a:ext>
            </a:extLst>
          </p:cNvPr>
          <p:cNvSpPr>
            <a:spLocks noGrp="1"/>
          </p:cNvSpPr>
          <p:nvPr>
            <p:ph type="dt" sz="half" idx="10"/>
          </p:nvPr>
        </p:nvSpPr>
        <p:spPr/>
        <p:txBody>
          <a:bodyPr/>
          <a:lstStyle/>
          <a:p>
            <a:fld id="{399F7520-E07E-4FCB-AB6E-CD545857A848}" type="datetimeFigureOut">
              <a:rPr lang="en-US" smtClean="0"/>
              <a:t>9/19/2026</a:t>
            </a:fld>
            <a:endParaRPr lang="en-US"/>
          </a:p>
        </p:txBody>
      </p:sp>
      <p:sp>
        <p:nvSpPr>
          <p:cNvPr id="6" name="Footer Placeholder 5">
            <a:extLst>
              <a:ext uri="{FF2B5EF4-FFF2-40B4-BE49-F238E27FC236}">
                <a16:creationId xmlns:a16="http://schemas.microsoft.com/office/drawing/2014/main" id="{C6294071-C18A-0C44-6FCF-4D8394AB6E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EB9164-AEA0-1018-652E-D60427C9BBBA}"/>
              </a:ext>
            </a:extLst>
          </p:cNvPr>
          <p:cNvSpPr>
            <a:spLocks noGrp="1"/>
          </p:cNvSpPr>
          <p:nvPr>
            <p:ph type="sldNum" sz="quarter" idx="12"/>
          </p:nvPr>
        </p:nvSpPr>
        <p:spPr/>
        <p:txBody>
          <a:bodyPr/>
          <a:lstStyle/>
          <a:p>
            <a:fld id="{0F9A918B-6B61-42FB-B3D8-F4A40E4B3044}" type="slidenum">
              <a:rPr lang="en-US" smtClean="0"/>
              <a:t>‹#›</a:t>
            </a:fld>
            <a:endParaRPr lang="en-US"/>
          </a:p>
        </p:txBody>
      </p:sp>
    </p:spTree>
    <p:extLst>
      <p:ext uri="{BB962C8B-B14F-4D97-AF65-F5344CB8AC3E}">
        <p14:creationId xmlns:p14="http://schemas.microsoft.com/office/powerpoint/2010/main" val="11302090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44588-61CE-87E4-94E4-830492D9C67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16370F2-9EBA-A42F-A998-A9F718FE5F8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B84D4B-FFFF-50F6-1E82-90B9FD86BFB3}"/>
              </a:ext>
            </a:extLst>
          </p:cNvPr>
          <p:cNvSpPr>
            <a:spLocks noGrp="1"/>
          </p:cNvSpPr>
          <p:nvPr>
            <p:ph type="dt" sz="half" idx="10"/>
          </p:nvPr>
        </p:nvSpPr>
        <p:spPr/>
        <p:txBody>
          <a:bodyPr/>
          <a:lstStyle/>
          <a:p>
            <a:fld id="{399F7520-E07E-4FCB-AB6E-CD545857A848}" type="datetimeFigureOut">
              <a:rPr lang="en-US" smtClean="0"/>
              <a:t>9/19/2026</a:t>
            </a:fld>
            <a:endParaRPr lang="en-US"/>
          </a:p>
        </p:txBody>
      </p:sp>
      <p:sp>
        <p:nvSpPr>
          <p:cNvPr id="5" name="Footer Placeholder 4">
            <a:extLst>
              <a:ext uri="{FF2B5EF4-FFF2-40B4-BE49-F238E27FC236}">
                <a16:creationId xmlns:a16="http://schemas.microsoft.com/office/drawing/2014/main" id="{CCA13780-6027-0CB6-AB48-A49DFF61AC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C21AAB-24D1-E4C1-93A8-21A6A3FEA81B}"/>
              </a:ext>
            </a:extLst>
          </p:cNvPr>
          <p:cNvSpPr>
            <a:spLocks noGrp="1"/>
          </p:cNvSpPr>
          <p:nvPr>
            <p:ph type="sldNum" sz="quarter" idx="12"/>
          </p:nvPr>
        </p:nvSpPr>
        <p:spPr/>
        <p:txBody>
          <a:bodyPr/>
          <a:lstStyle/>
          <a:p>
            <a:fld id="{0F9A918B-6B61-42FB-B3D8-F4A40E4B3044}" type="slidenum">
              <a:rPr lang="en-US" smtClean="0"/>
              <a:t>‹#›</a:t>
            </a:fld>
            <a:endParaRPr lang="en-US"/>
          </a:p>
        </p:txBody>
      </p:sp>
    </p:spTree>
    <p:extLst>
      <p:ext uri="{BB962C8B-B14F-4D97-AF65-F5344CB8AC3E}">
        <p14:creationId xmlns:p14="http://schemas.microsoft.com/office/powerpoint/2010/main" val="20084062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22E390-6C11-28C3-6589-8D5AAE6153E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FB9591-7270-CBF1-9D86-B702F93C341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42E441-86C6-0918-C712-CE208D413548}"/>
              </a:ext>
            </a:extLst>
          </p:cNvPr>
          <p:cNvSpPr>
            <a:spLocks noGrp="1"/>
          </p:cNvSpPr>
          <p:nvPr>
            <p:ph type="dt" sz="half" idx="10"/>
          </p:nvPr>
        </p:nvSpPr>
        <p:spPr/>
        <p:txBody>
          <a:bodyPr/>
          <a:lstStyle/>
          <a:p>
            <a:fld id="{399F7520-E07E-4FCB-AB6E-CD545857A848}" type="datetimeFigureOut">
              <a:rPr lang="en-US" smtClean="0"/>
              <a:t>9/19/2026</a:t>
            </a:fld>
            <a:endParaRPr lang="en-US"/>
          </a:p>
        </p:txBody>
      </p:sp>
      <p:sp>
        <p:nvSpPr>
          <p:cNvPr id="5" name="Footer Placeholder 4">
            <a:extLst>
              <a:ext uri="{FF2B5EF4-FFF2-40B4-BE49-F238E27FC236}">
                <a16:creationId xmlns:a16="http://schemas.microsoft.com/office/drawing/2014/main" id="{F3DD3169-119F-404B-2227-24BAD649F6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770133-7645-91BA-2C3F-0CF5E1430A98}"/>
              </a:ext>
            </a:extLst>
          </p:cNvPr>
          <p:cNvSpPr>
            <a:spLocks noGrp="1"/>
          </p:cNvSpPr>
          <p:nvPr>
            <p:ph type="sldNum" sz="quarter" idx="12"/>
          </p:nvPr>
        </p:nvSpPr>
        <p:spPr/>
        <p:txBody>
          <a:bodyPr/>
          <a:lstStyle/>
          <a:p>
            <a:fld id="{0F9A918B-6B61-42FB-B3D8-F4A40E4B3044}" type="slidenum">
              <a:rPr lang="en-US" smtClean="0"/>
              <a:t>‹#›</a:t>
            </a:fld>
            <a:endParaRPr lang="en-US"/>
          </a:p>
        </p:txBody>
      </p:sp>
    </p:spTree>
    <p:extLst>
      <p:ext uri="{BB962C8B-B14F-4D97-AF65-F5344CB8AC3E}">
        <p14:creationId xmlns:p14="http://schemas.microsoft.com/office/powerpoint/2010/main" val="19909419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241B4F6-516A-C614-3D06-AA8A2E9883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35EB82C-164F-6C47-7EC1-82DF5D0721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73BDA5-FACF-51FE-DF8F-A5A1D658E9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99F7520-E07E-4FCB-AB6E-CD545857A848}" type="datetimeFigureOut">
              <a:rPr lang="en-US" smtClean="0"/>
              <a:t>9/19/2026</a:t>
            </a:fld>
            <a:endParaRPr lang="en-US"/>
          </a:p>
        </p:txBody>
      </p:sp>
      <p:sp>
        <p:nvSpPr>
          <p:cNvPr id="5" name="Footer Placeholder 4">
            <a:extLst>
              <a:ext uri="{FF2B5EF4-FFF2-40B4-BE49-F238E27FC236}">
                <a16:creationId xmlns:a16="http://schemas.microsoft.com/office/drawing/2014/main" id="{85C3165D-432B-B8C8-55DB-E0D5A7C5D63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2D72358-A16B-76D1-CA30-3C24A8E20D2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9A918B-6B61-42FB-B3D8-F4A40E4B3044}" type="slidenum">
              <a:rPr lang="en-US" smtClean="0"/>
              <a:t>‹#›</a:t>
            </a:fld>
            <a:endParaRPr lang="en-US"/>
          </a:p>
        </p:txBody>
      </p:sp>
    </p:spTree>
    <p:extLst>
      <p:ext uri="{BB962C8B-B14F-4D97-AF65-F5344CB8AC3E}">
        <p14:creationId xmlns:p14="http://schemas.microsoft.com/office/powerpoint/2010/main" val="27225241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C0DCD-CF09-FA6C-D638-BC9EEDD2D76E}"/>
              </a:ext>
            </a:extLst>
          </p:cNvPr>
          <p:cNvSpPr>
            <a:spLocks noGrp="1"/>
          </p:cNvSpPr>
          <p:nvPr>
            <p:ph type="ctrTitle"/>
          </p:nvPr>
        </p:nvSpPr>
        <p:spPr/>
        <p:txBody>
          <a:bodyPr>
            <a:normAutofit fontScale="90000"/>
          </a:bodyPr>
          <a:lstStyle/>
          <a:p>
            <a:r>
              <a:rPr lang="en-US" dirty="0"/>
              <a:t>Analysis of the Influence of Bandwidth on QoS in IP Networks Using NS-3</a:t>
            </a:r>
          </a:p>
        </p:txBody>
      </p:sp>
      <p:sp>
        <p:nvSpPr>
          <p:cNvPr id="3" name="Subtitle 2">
            <a:extLst>
              <a:ext uri="{FF2B5EF4-FFF2-40B4-BE49-F238E27FC236}">
                <a16:creationId xmlns:a16="http://schemas.microsoft.com/office/drawing/2014/main" id="{A2ADD5F7-1618-54E1-DBC7-14E263A0BD74}"/>
              </a:ext>
            </a:extLst>
          </p:cNvPr>
          <p:cNvSpPr>
            <a:spLocks noGrp="1"/>
          </p:cNvSpPr>
          <p:nvPr>
            <p:ph type="subTitle" idx="1"/>
          </p:nvPr>
        </p:nvSpPr>
        <p:spPr>
          <a:xfrm>
            <a:off x="1150377" y="3509963"/>
            <a:ext cx="9144000" cy="2287485"/>
          </a:xfrm>
        </p:spPr>
        <p:txBody>
          <a:bodyPr>
            <a:normAutofit/>
          </a:bodyPr>
          <a:lstStyle/>
          <a:p>
            <a:pPr>
              <a:spcBef>
                <a:spcPts val="0"/>
              </a:spcBef>
            </a:pPr>
            <a:r>
              <a:rPr lang="en-US" b="1" dirty="0"/>
              <a:t>Name : Rahmat Munir Hasan (M11302828)</a:t>
            </a:r>
          </a:p>
          <a:p>
            <a:pPr>
              <a:spcBef>
                <a:spcPts val="0"/>
              </a:spcBef>
            </a:pPr>
            <a:r>
              <a:rPr lang="en-US" b="1" dirty="0"/>
              <a:t>Reference : </a:t>
            </a:r>
            <a:br>
              <a:rPr lang="en-US" sz="1800" dirty="0"/>
            </a:br>
            <a:r>
              <a:rPr lang="en-US" sz="1800" dirty="0"/>
              <a:t>[1]. ideas and content of research reports from </a:t>
            </a:r>
            <a:r>
              <a:rPr lang="en-US" sz="1800" b="1" dirty="0"/>
              <a:t>chat-</a:t>
            </a:r>
            <a:r>
              <a:rPr lang="en-US" sz="1800" b="1" dirty="0" err="1"/>
              <a:t>gpt</a:t>
            </a:r>
            <a:r>
              <a:rPr lang="en-US" sz="1800" dirty="0"/>
              <a:t> searches</a:t>
            </a:r>
          </a:p>
          <a:p>
            <a:br>
              <a:rPr lang="en-US" dirty="0"/>
            </a:br>
            <a:endParaRPr lang="en-US" dirty="0"/>
          </a:p>
        </p:txBody>
      </p:sp>
      <p:sp>
        <p:nvSpPr>
          <p:cNvPr id="5" name="TextBox 4">
            <a:extLst>
              <a:ext uri="{FF2B5EF4-FFF2-40B4-BE49-F238E27FC236}">
                <a16:creationId xmlns:a16="http://schemas.microsoft.com/office/drawing/2014/main" id="{ADC0607D-73BC-BE27-758E-FA3759B70B8D}"/>
              </a:ext>
            </a:extLst>
          </p:cNvPr>
          <p:cNvSpPr txBox="1"/>
          <p:nvPr/>
        </p:nvSpPr>
        <p:spPr>
          <a:xfrm>
            <a:off x="2605548" y="4625080"/>
            <a:ext cx="8878529" cy="968278"/>
          </a:xfrm>
          <a:prstGeom prst="rect">
            <a:avLst/>
          </a:prstGeom>
          <a:noFill/>
        </p:spPr>
        <p:txBody>
          <a:bodyPr wrap="square">
            <a:spAutoFit/>
          </a:bodyPr>
          <a:lstStyle/>
          <a:p>
            <a:pPr>
              <a:lnSpc>
                <a:spcPct val="107000"/>
              </a:lnSpc>
              <a:spcAft>
                <a:spcPts val="800"/>
              </a:spcAft>
            </a:pPr>
            <a:r>
              <a:rPr lang="en-US" sz="1800" dirty="0">
                <a:effectLst/>
                <a:latin typeface="Calibri" panose="020F0502020204030204" pitchFamily="34" charset="0"/>
                <a:ea typeface="Yu Mincho" panose="02020400000000000000" pitchFamily="18" charset="-128"/>
                <a:cs typeface="Calibri" panose="020F0502020204030204" pitchFamily="34" charset="0"/>
              </a:rPr>
              <a:t>[2]</a:t>
            </a:r>
            <a:r>
              <a:rPr lang="en-US" dirty="0">
                <a:latin typeface="Calibri" panose="020F0502020204030204" pitchFamily="34" charset="0"/>
                <a:ea typeface="Yu Mincho" panose="02020400000000000000" pitchFamily="18" charset="-128"/>
                <a:cs typeface="Calibri" panose="020F0502020204030204" pitchFamily="34" charset="0"/>
              </a:rPr>
              <a:t>. </a:t>
            </a:r>
            <a:r>
              <a:rPr lang="en-US" sz="1800" dirty="0">
                <a:effectLst/>
                <a:latin typeface="Calibri" panose="020F0502020204030204" pitchFamily="34" charset="0"/>
                <a:ea typeface="Yu Mincho" panose="02020400000000000000" pitchFamily="18" charset="-128"/>
                <a:cs typeface="Calibri" panose="020F0502020204030204" pitchFamily="34" charset="0"/>
              </a:rPr>
              <a:t>B. Shin and D. Lee, “An Efficient Local Repair-Based Multi-Constrained Routing for Congestion Control in Wireless Mesh Networks,” </a:t>
            </a:r>
            <a:r>
              <a:rPr lang="en-US" sz="1800" i="1" dirty="0">
                <a:effectLst/>
                <a:latin typeface="Calibri" panose="020F0502020204030204" pitchFamily="34" charset="0"/>
                <a:ea typeface="Yu Mincho" panose="02020400000000000000" pitchFamily="18" charset="-128"/>
                <a:cs typeface="Calibri" panose="020F0502020204030204" pitchFamily="34" charset="0"/>
              </a:rPr>
              <a:t>Wireless Communications and Mobile Computing</a:t>
            </a:r>
            <a:r>
              <a:rPr lang="en-US" sz="1800" dirty="0">
                <a:effectLst/>
                <a:latin typeface="Calibri" panose="020F0502020204030204" pitchFamily="34" charset="0"/>
                <a:ea typeface="Yu Mincho" panose="02020400000000000000" pitchFamily="18" charset="-128"/>
                <a:cs typeface="Calibri" panose="020F0502020204030204" pitchFamily="34" charset="0"/>
              </a:rPr>
              <a:t>, vol. 2018, no. 1, p. 2893494, 2018, </a:t>
            </a:r>
            <a:r>
              <a:rPr lang="en-US" sz="1800" dirty="0" err="1">
                <a:effectLst/>
                <a:latin typeface="Calibri" panose="020F0502020204030204" pitchFamily="34" charset="0"/>
                <a:ea typeface="Yu Mincho" panose="02020400000000000000" pitchFamily="18" charset="-128"/>
                <a:cs typeface="Calibri" panose="020F0502020204030204" pitchFamily="34" charset="0"/>
              </a:rPr>
              <a:t>doi</a:t>
            </a:r>
            <a:r>
              <a:rPr lang="en-US" sz="1800" dirty="0">
                <a:effectLst/>
                <a:latin typeface="Calibri" panose="020F0502020204030204" pitchFamily="34" charset="0"/>
                <a:ea typeface="Yu Mincho" panose="02020400000000000000" pitchFamily="18" charset="-128"/>
                <a:cs typeface="Calibri" panose="020F0502020204030204" pitchFamily="34" charset="0"/>
              </a:rPr>
              <a:t>: 10.1155/2018/2893494.</a:t>
            </a:r>
            <a:endParaRPr lang="en-US" sz="1800" dirty="0">
              <a:effectLst/>
              <a:latin typeface="Calibri" panose="020F0502020204030204" pitchFamily="34" charset="0"/>
              <a:ea typeface="Yu Mincho" panose="02020400000000000000" pitchFamily="18" charset="-128"/>
              <a:cs typeface="Times New Roman" panose="02020603050405020304" pitchFamily="18" charset="0"/>
            </a:endParaRPr>
          </a:p>
        </p:txBody>
      </p:sp>
      <p:sp>
        <p:nvSpPr>
          <p:cNvPr id="6" name="Title 1">
            <a:extLst>
              <a:ext uri="{FF2B5EF4-FFF2-40B4-BE49-F238E27FC236}">
                <a16:creationId xmlns:a16="http://schemas.microsoft.com/office/drawing/2014/main" id="{FC4CF315-B753-3B48-5C94-FC430B5E1AC4}"/>
              </a:ext>
            </a:extLst>
          </p:cNvPr>
          <p:cNvSpPr txBox="1">
            <a:spLocks/>
          </p:cNvSpPr>
          <p:nvPr/>
        </p:nvSpPr>
        <p:spPr>
          <a:xfrm>
            <a:off x="1524000" y="-1265237"/>
            <a:ext cx="9144000" cy="2387600"/>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a:t>Assignment 1: </a:t>
            </a:r>
          </a:p>
        </p:txBody>
      </p:sp>
      <p:sp>
        <p:nvSpPr>
          <p:cNvPr id="8" name="TextBox 7">
            <a:extLst>
              <a:ext uri="{FF2B5EF4-FFF2-40B4-BE49-F238E27FC236}">
                <a16:creationId xmlns:a16="http://schemas.microsoft.com/office/drawing/2014/main" id="{0C5148E1-7AFC-8D34-1211-A0A4567858F2}"/>
              </a:ext>
            </a:extLst>
          </p:cNvPr>
          <p:cNvSpPr txBox="1"/>
          <p:nvPr/>
        </p:nvSpPr>
        <p:spPr>
          <a:xfrm>
            <a:off x="2605548" y="5593358"/>
            <a:ext cx="6096000" cy="1264642"/>
          </a:xfrm>
          <a:prstGeom prst="rect">
            <a:avLst/>
          </a:prstGeom>
          <a:noFill/>
        </p:spPr>
        <p:txBody>
          <a:bodyPr wrap="square">
            <a:spAutoFit/>
          </a:bodyPr>
          <a:lstStyle/>
          <a:p>
            <a:pPr>
              <a:lnSpc>
                <a:spcPct val="107000"/>
              </a:lnSpc>
              <a:spcAft>
                <a:spcPts val="800"/>
              </a:spcAft>
            </a:pPr>
            <a:r>
              <a:rPr lang="fi-FI" sz="1800" dirty="0">
                <a:effectLst/>
                <a:latin typeface="Calibri" panose="020F0502020204030204" pitchFamily="34" charset="0"/>
                <a:ea typeface="Yu Mincho" panose="02020400000000000000" pitchFamily="18" charset="-128"/>
                <a:cs typeface="Calibri" panose="020F0502020204030204" pitchFamily="34" charset="0"/>
              </a:rPr>
              <a:t>[3].</a:t>
            </a:r>
            <a:r>
              <a:rPr lang="fi-FI" dirty="0">
                <a:latin typeface="Calibri" panose="020F0502020204030204" pitchFamily="34" charset="0"/>
                <a:ea typeface="Yu Mincho" panose="02020400000000000000" pitchFamily="18" charset="-128"/>
                <a:cs typeface="Calibri" panose="020F0502020204030204" pitchFamily="34" charset="0"/>
              </a:rPr>
              <a:t> </a:t>
            </a:r>
            <a:r>
              <a:rPr lang="fi-FI" sz="1800" dirty="0">
                <a:effectLst/>
                <a:latin typeface="Calibri" panose="020F0502020204030204" pitchFamily="34" charset="0"/>
                <a:ea typeface="Yu Mincho" panose="02020400000000000000" pitchFamily="18" charset="-128"/>
                <a:cs typeface="Calibri" panose="020F0502020204030204" pitchFamily="34" charset="0"/>
              </a:rPr>
              <a:t>G. W. Cermak, “Multimedia Quality as a Function of Bandwidth, Packet Loss, and Latency,” </a:t>
            </a:r>
            <a:r>
              <a:rPr lang="fi-FI" sz="1800" i="1" dirty="0">
                <a:effectLst/>
                <a:latin typeface="Calibri" panose="020F0502020204030204" pitchFamily="34" charset="0"/>
                <a:ea typeface="Yu Mincho" panose="02020400000000000000" pitchFamily="18" charset="-128"/>
                <a:cs typeface="Calibri" panose="020F0502020204030204" pitchFamily="34" charset="0"/>
              </a:rPr>
              <a:t>Int J Speech Technol</a:t>
            </a:r>
            <a:r>
              <a:rPr lang="fi-FI" sz="1800" dirty="0">
                <a:effectLst/>
                <a:latin typeface="Calibri" panose="020F0502020204030204" pitchFamily="34" charset="0"/>
                <a:ea typeface="Yu Mincho" panose="02020400000000000000" pitchFamily="18" charset="-128"/>
                <a:cs typeface="Calibri" panose="020F0502020204030204" pitchFamily="34" charset="0"/>
              </a:rPr>
              <a:t>, vol. 8, no. 3, pp. 259–270, Sep. 2005, doi: 10.1007/s10772-006-6368-3.</a:t>
            </a:r>
            <a:endParaRPr lang="en-US" sz="1800" dirty="0">
              <a:effectLst/>
              <a:latin typeface="Calibri" panose="020F0502020204030204" pitchFamily="34" charset="0"/>
              <a:ea typeface="Yu Mincho" panose="02020400000000000000" pitchFamily="18" charset="-128"/>
              <a:cs typeface="Times New Roman" panose="02020603050405020304" pitchFamily="18" charset="0"/>
            </a:endParaRPr>
          </a:p>
        </p:txBody>
      </p:sp>
    </p:spTree>
    <p:extLst>
      <p:ext uri="{BB962C8B-B14F-4D97-AF65-F5344CB8AC3E}">
        <p14:creationId xmlns:p14="http://schemas.microsoft.com/office/powerpoint/2010/main" val="3929011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9AB50-CCE6-077D-FA8E-1F2C87427E85}"/>
              </a:ext>
            </a:extLst>
          </p:cNvPr>
          <p:cNvSpPr>
            <a:spLocks noGrp="1"/>
          </p:cNvSpPr>
          <p:nvPr>
            <p:ph type="title"/>
          </p:nvPr>
        </p:nvSpPr>
        <p:spPr>
          <a:xfrm>
            <a:off x="326923" y="89822"/>
            <a:ext cx="10515600" cy="1325563"/>
          </a:xfrm>
        </p:spPr>
        <p:txBody>
          <a:bodyPr/>
          <a:lstStyle/>
          <a:p>
            <a:r>
              <a:rPr lang="en-US" b="1" i="0" dirty="0">
                <a:effectLst/>
                <a:latin typeface="Mona Sans VF"/>
              </a:rPr>
              <a:t>1. Problem to be solved:</a:t>
            </a:r>
            <a:endParaRPr lang="en-US" dirty="0"/>
          </a:p>
        </p:txBody>
      </p:sp>
      <p:sp>
        <p:nvSpPr>
          <p:cNvPr id="3" name="Content Placeholder 2">
            <a:extLst>
              <a:ext uri="{FF2B5EF4-FFF2-40B4-BE49-F238E27FC236}">
                <a16:creationId xmlns:a16="http://schemas.microsoft.com/office/drawing/2014/main" id="{94BD41A6-F36B-0B45-1753-F7014323719A}"/>
              </a:ext>
            </a:extLst>
          </p:cNvPr>
          <p:cNvSpPr>
            <a:spLocks noGrp="1"/>
          </p:cNvSpPr>
          <p:nvPr>
            <p:ph idx="1"/>
          </p:nvPr>
        </p:nvSpPr>
        <p:spPr>
          <a:xfrm>
            <a:off x="680884" y="1334012"/>
            <a:ext cx="10515600" cy="4351338"/>
          </a:xfrm>
        </p:spPr>
        <p:txBody>
          <a:bodyPr>
            <a:normAutofit lnSpcReduction="10000"/>
          </a:bodyPr>
          <a:lstStyle/>
          <a:p>
            <a:pPr marL="0" indent="0" algn="just">
              <a:buNone/>
            </a:pPr>
            <a:r>
              <a:rPr lang="en-US" b="0" i="0" dirty="0">
                <a:effectLst/>
                <a:latin typeface="Mona Sans VF"/>
              </a:rPr>
              <a:t>In everyday life, many devices use the network simultaneously, while the network bandwidth capacity is limited. When incoming traffic increases, QoS (network service quality) can decrease.</a:t>
            </a:r>
          </a:p>
          <a:p>
            <a:pPr marL="0" indent="0" algn="just">
              <a:buNone/>
            </a:pPr>
            <a:endParaRPr lang="en-US" dirty="0">
              <a:latin typeface="Mona Sans VF"/>
            </a:endParaRPr>
          </a:p>
          <a:p>
            <a:pPr marL="0" indent="0" algn="just">
              <a:buNone/>
            </a:pPr>
            <a:r>
              <a:rPr lang="en-US" dirty="0">
                <a:latin typeface="Mona Sans VF"/>
              </a:rPr>
              <a:t>1.1 How does bandwidth affect throughput, delay, jitter, and packet loss?</a:t>
            </a:r>
          </a:p>
          <a:p>
            <a:pPr marL="0" indent="0" algn="just">
              <a:buNone/>
            </a:pPr>
            <a:endParaRPr lang="en-US" dirty="0">
              <a:latin typeface="Mona Sans VF"/>
            </a:endParaRPr>
          </a:p>
          <a:p>
            <a:pPr marL="0" indent="0" algn="just">
              <a:buNone/>
            </a:pPr>
            <a:r>
              <a:rPr lang="en-US" dirty="0">
                <a:latin typeface="Mona Sans VF"/>
              </a:rPr>
              <a:t>1.2 This research was conducted to find parameters and results to determine optimal QoS in various cases with many variations in bandwidth against throughput, delay, jitter, and packet loss.</a:t>
            </a:r>
          </a:p>
        </p:txBody>
      </p:sp>
    </p:spTree>
    <p:extLst>
      <p:ext uri="{BB962C8B-B14F-4D97-AF65-F5344CB8AC3E}">
        <p14:creationId xmlns:p14="http://schemas.microsoft.com/office/powerpoint/2010/main" val="25643362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9AB50-CCE6-077D-FA8E-1F2C87427E85}"/>
              </a:ext>
            </a:extLst>
          </p:cNvPr>
          <p:cNvSpPr>
            <a:spLocks noGrp="1"/>
          </p:cNvSpPr>
          <p:nvPr>
            <p:ph type="title"/>
          </p:nvPr>
        </p:nvSpPr>
        <p:spPr>
          <a:xfrm>
            <a:off x="326923" y="89822"/>
            <a:ext cx="10515600" cy="1325563"/>
          </a:xfrm>
        </p:spPr>
        <p:txBody>
          <a:bodyPr/>
          <a:lstStyle/>
          <a:p>
            <a:r>
              <a:rPr lang="en-US" b="1" i="0" dirty="0">
                <a:effectLst/>
                <a:latin typeface="Mona Sans VF"/>
              </a:rPr>
              <a:t>2. Key challenges:</a:t>
            </a:r>
            <a:endParaRPr lang="en-US" dirty="0"/>
          </a:p>
        </p:txBody>
      </p:sp>
      <p:sp>
        <p:nvSpPr>
          <p:cNvPr id="3" name="Content Placeholder 2">
            <a:extLst>
              <a:ext uri="{FF2B5EF4-FFF2-40B4-BE49-F238E27FC236}">
                <a16:creationId xmlns:a16="http://schemas.microsoft.com/office/drawing/2014/main" id="{94BD41A6-F36B-0B45-1753-F7014323719A}"/>
              </a:ext>
            </a:extLst>
          </p:cNvPr>
          <p:cNvSpPr>
            <a:spLocks noGrp="1"/>
          </p:cNvSpPr>
          <p:nvPr>
            <p:ph idx="1"/>
          </p:nvPr>
        </p:nvSpPr>
        <p:spPr>
          <a:xfrm>
            <a:off x="680884" y="1334012"/>
            <a:ext cx="10515600" cy="4351338"/>
          </a:xfrm>
        </p:spPr>
        <p:txBody>
          <a:bodyPr>
            <a:normAutofit/>
          </a:bodyPr>
          <a:lstStyle/>
          <a:p>
            <a:pPr marL="0" indent="0">
              <a:buNone/>
            </a:pPr>
            <a:r>
              <a:rPr lang="en-US" dirty="0">
                <a:latin typeface="Mona Sans VF"/>
              </a:rPr>
              <a:t>2.1 Hard difficult </a:t>
            </a:r>
            <a:r>
              <a:rPr lang="en-US" b="0" i="0" dirty="0">
                <a:effectLst/>
                <a:latin typeface="Mona Sans VF"/>
              </a:rPr>
              <a:t>to install ns-3 in </a:t>
            </a:r>
            <a:r>
              <a:rPr lang="en-US" b="0" i="0" dirty="0" err="1">
                <a:effectLst/>
                <a:latin typeface="Mona Sans VF"/>
              </a:rPr>
              <a:t>linux</a:t>
            </a:r>
            <a:r>
              <a:rPr lang="en-US" b="0" i="0" dirty="0">
                <a:effectLst/>
                <a:latin typeface="Mona Sans VF"/>
              </a:rPr>
              <a:t> and write code</a:t>
            </a:r>
            <a:r>
              <a:rPr lang="en-US" dirty="0">
                <a:latin typeface="Mona Sans VF"/>
              </a:rPr>
              <a:t>. </a:t>
            </a:r>
          </a:p>
          <a:p>
            <a:pPr marL="0" indent="0">
              <a:buNone/>
            </a:pPr>
            <a:r>
              <a:rPr lang="en-US" dirty="0">
                <a:latin typeface="Mona Sans VF"/>
              </a:rPr>
              <a:t>2.2 Traffic uses CBR so that it can be analyzed easily.</a:t>
            </a:r>
          </a:p>
          <a:p>
            <a:pPr marL="514350" indent="-514350">
              <a:buAutoNum type="arabicPeriod"/>
            </a:pPr>
            <a:endParaRPr lang="en-US" dirty="0">
              <a:latin typeface="Mona Sans VF"/>
            </a:endParaRPr>
          </a:p>
        </p:txBody>
      </p:sp>
    </p:spTree>
    <p:extLst>
      <p:ext uri="{BB962C8B-B14F-4D97-AF65-F5344CB8AC3E}">
        <p14:creationId xmlns:p14="http://schemas.microsoft.com/office/powerpoint/2010/main" val="20645471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9AB50-CCE6-077D-FA8E-1F2C87427E85}"/>
              </a:ext>
            </a:extLst>
          </p:cNvPr>
          <p:cNvSpPr>
            <a:spLocks noGrp="1"/>
          </p:cNvSpPr>
          <p:nvPr>
            <p:ph type="title"/>
          </p:nvPr>
        </p:nvSpPr>
        <p:spPr>
          <a:xfrm>
            <a:off x="326923" y="89822"/>
            <a:ext cx="10515600" cy="1325563"/>
          </a:xfrm>
        </p:spPr>
        <p:txBody>
          <a:bodyPr/>
          <a:lstStyle/>
          <a:p>
            <a:r>
              <a:rPr lang="en-US" b="1" i="0" dirty="0">
                <a:effectLst/>
                <a:latin typeface="Mona Sans VF"/>
              </a:rPr>
              <a:t>3. Proposed method:</a:t>
            </a:r>
            <a:endParaRPr lang="en-US" dirty="0"/>
          </a:p>
        </p:txBody>
      </p:sp>
      <p:sp>
        <p:nvSpPr>
          <p:cNvPr id="3" name="Content Placeholder 2">
            <a:extLst>
              <a:ext uri="{FF2B5EF4-FFF2-40B4-BE49-F238E27FC236}">
                <a16:creationId xmlns:a16="http://schemas.microsoft.com/office/drawing/2014/main" id="{94BD41A6-F36B-0B45-1753-F7014323719A}"/>
              </a:ext>
            </a:extLst>
          </p:cNvPr>
          <p:cNvSpPr>
            <a:spLocks noGrp="1"/>
          </p:cNvSpPr>
          <p:nvPr>
            <p:ph idx="1"/>
          </p:nvPr>
        </p:nvSpPr>
        <p:spPr>
          <a:xfrm>
            <a:off x="81116" y="1405093"/>
            <a:ext cx="12278032" cy="4732491"/>
          </a:xfrm>
        </p:spPr>
        <p:txBody>
          <a:bodyPr>
            <a:normAutofit/>
          </a:bodyPr>
          <a:lstStyle/>
          <a:p>
            <a:pPr marL="0" indent="0">
              <a:buNone/>
            </a:pPr>
            <a:r>
              <a:rPr lang="en-US" dirty="0">
                <a:latin typeface="Mona Sans VF"/>
              </a:rPr>
              <a:t>To create a very optimal quality of service, data on throughput, delay, jitter, packet loss values ​​are needed to be analyzed using graphs and regression (a method of approaching the relationship between 2 close variables), so that the influence of bandwidth can be determined and reduce the shortcomings of the QoS system because the results are not optimal.</a:t>
            </a:r>
          </a:p>
          <a:p>
            <a:pPr marL="0" indent="0">
              <a:buNone/>
            </a:pPr>
            <a:endParaRPr lang="en-US" dirty="0">
              <a:latin typeface="Mona Sans VF"/>
            </a:endParaRPr>
          </a:p>
          <a:p>
            <a:pPr marL="0" indent="0">
              <a:buNone/>
            </a:pPr>
            <a:r>
              <a:rPr lang="en-US" dirty="0">
                <a:latin typeface="Mona Sans VF"/>
              </a:rPr>
              <a:t>3.1 Independent Variable : </a:t>
            </a:r>
            <a:r>
              <a:rPr lang="en-US" dirty="0" err="1">
                <a:latin typeface="Mona Sans VF"/>
              </a:rPr>
              <a:t>bandwith</a:t>
            </a:r>
            <a:r>
              <a:rPr lang="en-US" dirty="0">
                <a:latin typeface="Mona Sans VF"/>
              </a:rPr>
              <a:t> </a:t>
            </a:r>
            <a:r>
              <a:rPr lang="en-US" dirty="0">
                <a:latin typeface="Mona Sans VF"/>
                <a:sym typeface="Wingdings" panose="05000000000000000000" pitchFamily="2" charset="2"/>
              </a:rPr>
              <a:t> 1 mbps,3 mbps,10mbps,12 mbps,30 </a:t>
            </a:r>
            <a:r>
              <a:rPr lang="en-US" dirty="0" err="1">
                <a:latin typeface="Mona Sans VF"/>
                <a:sym typeface="Wingdings" panose="05000000000000000000" pitchFamily="2" charset="2"/>
              </a:rPr>
              <a:t>mbps</a:t>
            </a:r>
            <a:endParaRPr lang="en-US" dirty="0">
              <a:latin typeface="Mona Sans VF"/>
              <a:sym typeface="Wingdings" panose="05000000000000000000" pitchFamily="2" charset="2"/>
            </a:endParaRPr>
          </a:p>
          <a:p>
            <a:pPr marL="0" indent="0">
              <a:buNone/>
            </a:pPr>
            <a:r>
              <a:rPr lang="en-US" dirty="0">
                <a:latin typeface="Mona Sans VF"/>
                <a:sym typeface="Wingdings" panose="05000000000000000000" pitchFamily="2" charset="2"/>
              </a:rPr>
              <a:t>3.2 Dependent Variable  : </a:t>
            </a:r>
            <a:r>
              <a:rPr lang="en-US" dirty="0">
                <a:latin typeface="Mona Sans VF"/>
              </a:rPr>
              <a:t>throughput, delay, jitter, and packet loss.</a:t>
            </a:r>
            <a:r>
              <a:rPr lang="en-US" dirty="0">
                <a:latin typeface="Mona Sans VF"/>
                <a:sym typeface="Wingdings" panose="05000000000000000000" pitchFamily="2" charset="2"/>
              </a:rPr>
              <a:t>  </a:t>
            </a:r>
            <a:endParaRPr lang="en-US" dirty="0">
              <a:latin typeface="Mona Sans VF"/>
            </a:endParaRPr>
          </a:p>
        </p:txBody>
      </p:sp>
    </p:spTree>
    <p:extLst>
      <p:ext uri="{BB962C8B-B14F-4D97-AF65-F5344CB8AC3E}">
        <p14:creationId xmlns:p14="http://schemas.microsoft.com/office/powerpoint/2010/main" val="38588303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BD41A6-F36B-0B45-1753-F7014323719A}"/>
              </a:ext>
            </a:extLst>
          </p:cNvPr>
          <p:cNvSpPr>
            <a:spLocks noGrp="1"/>
          </p:cNvSpPr>
          <p:nvPr>
            <p:ph idx="1"/>
          </p:nvPr>
        </p:nvSpPr>
        <p:spPr>
          <a:xfrm>
            <a:off x="199103" y="156397"/>
            <a:ext cx="12278032" cy="1151293"/>
          </a:xfrm>
        </p:spPr>
        <p:txBody>
          <a:bodyPr>
            <a:normAutofit/>
          </a:bodyPr>
          <a:lstStyle/>
          <a:p>
            <a:pPr marL="0" indent="0">
              <a:buNone/>
            </a:pPr>
            <a:r>
              <a:rPr lang="en-US" dirty="0">
                <a:latin typeface="Mona Sans VF"/>
              </a:rPr>
              <a:t>3.3 </a:t>
            </a:r>
            <a:r>
              <a:rPr lang="en-US" dirty="0"/>
              <a:t>Algorithm flowchart</a:t>
            </a:r>
            <a:r>
              <a:rPr lang="en-US" dirty="0">
                <a:latin typeface="Mona Sans VF"/>
              </a:rPr>
              <a:t>.</a:t>
            </a:r>
            <a:r>
              <a:rPr lang="en-US" dirty="0">
                <a:latin typeface="Mona Sans VF"/>
                <a:sym typeface="Wingdings" panose="05000000000000000000" pitchFamily="2" charset="2"/>
              </a:rPr>
              <a:t>  </a:t>
            </a:r>
            <a:endParaRPr lang="en-US" dirty="0">
              <a:latin typeface="Mona Sans VF"/>
            </a:endParaRPr>
          </a:p>
        </p:txBody>
      </p:sp>
      <p:pic>
        <p:nvPicPr>
          <p:cNvPr id="7" name="Picture 6">
            <a:extLst>
              <a:ext uri="{FF2B5EF4-FFF2-40B4-BE49-F238E27FC236}">
                <a16:creationId xmlns:a16="http://schemas.microsoft.com/office/drawing/2014/main" id="{115F4A0D-6EAB-5690-4371-D4EC16AD433D}"/>
              </a:ext>
            </a:extLst>
          </p:cNvPr>
          <p:cNvPicPr>
            <a:picLocks noChangeAspect="1"/>
          </p:cNvPicPr>
          <p:nvPr/>
        </p:nvPicPr>
        <p:blipFill>
          <a:blip r:embed="rId2"/>
          <a:stretch>
            <a:fillRect/>
          </a:stretch>
        </p:blipFill>
        <p:spPr>
          <a:xfrm>
            <a:off x="3959450" y="1951244"/>
            <a:ext cx="3685630" cy="3667063"/>
          </a:xfrm>
          <a:prstGeom prst="rect">
            <a:avLst/>
          </a:prstGeom>
        </p:spPr>
      </p:pic>
      <p:sp>
        <p:nvSpPr>
          <p:cNvPr id="8" name="Content Placeholder 2">
            <a:extLst>
              <a:ext uri="{FF2B5EF4-FFF2-40B4-BE49-F238E27FC236}">
                <a16:creationId xmlns:a16="http://schemas.microsoft.com/office/drawing/2014/main" id="{EC3CC575-878E-EF36-DEE6-5E150986904D}"/>
              </a:ext>
            </a:extLst>
          </p:cNvPr>
          <p:cNvSpPr txBox="1">
            <a:spLocks/>
          </p:cNvSpPr>
          <p:nvPr/>
        </p:nvSpPr>
        <p:spPr>
          <a:xfrm>
            <a:off x="3681688" y="5706707"/>
            <a:ext cx="12278032" cy="11512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a:latin typeface="Mona Sans VF"/>
              </a:rPr>
              <a:t>Figure 1. flowchart simulation system, (Chat-</a:t>
            </a:r>
            <a:r>
              <a:rPr lang="en-US" sz="1800" dirty="0" err="1">
                <a:latin typeface="Mona Sans VF"/>
              </a:rPr>
              <a:t>gpt</a:t>
            </a:r>
            <a:r>
              <a:rPr lang="en-US" sz="1800" dirty="0">
                <a:latin typeface="Mona Sans VF"/>
              </a:rPr>
              <a:t>) </a:t>
            </a:r>
          </a:p>
        </p:txBody>
      </p:sp>
      <p:sp>
        <p:nvSpPr>
          <p:cNvPr id="9" name="Content Placeholder 2">
            <a:extLst>
              <a:ext uri="{FF2B5EF4-FFF2-40B4-BE49-F238E27FC236}">
                <a16:creationId xmlns:a16="http://schemas.microsoft.com/office/drawing/2014/main" id="{E0A8922F-55CD-08B8-9AC1-A37B32A4DABE}"/>
              </a:ext>
            </a:extLst>
          </p:cNvPr>
          <p:cNvSpPr txBox="1">
            <a:spLocks/>
          </p:cNvSpPr>
          <p:nvPr/>
        </p:nvSpPr>
        <p:spPr>
          <a:xfrm>
            <a:off x="731684" y="632972"/>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latin typeface="Mona Sans VF"/>
              </a:rPr>
              <a:t>Figure 1, framework for Analysis of the Influence of Bandwidth on QoS in IP Networks.</a:t>
            </a:r>
          </a:p>
        </p:txBody>
      </p:sp>
    </p:spTree>
    <p:extLst>
      <p:ext uri="{BB962C8B-B14F-4D97-AF65-F5344CB8AC3E}">
        <p14:creationId xmlns:p14="http://schemas.microsoft.com/office/powerpoint/2010/main" val="3175609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BD41A6-F36B-0B45-1753-F7014323719A}"/>
              </a:ext>
            </a:extLst>
          </p:cNvPr>
          <p:cNvSpPr>
            <a:spLocks noGrp="1"/>
          </p:cNvSpPr>
          <p:nvPr>
            <p:ph idx="1"/>
          </p:nvPr>
        </p:nvSpPr>
        <p:spPr>
          <a:xfrm>
            <a:off x="199103" y="156397"/>
            <a:ext cx="12278032" cy="1151293"/>
          </a:xfrm>
        </p:spPr>
        <p:txBody>
          <a:bodyPr>
            <a:normAutofit/>
          </a:bodyPr>
          <a:lstStyle/>
          <a:p>
            <a:pPr marL="0" indent="0">
              <a:buNone/>
            </a:pPr>
            <a:r>
              <a:rPr lang="en-US" dirty="0">
                <a:latin typeface="Mona Sans VF"/>
              </a:rPr>
              <a:t>3.4 Experiment research.</a:t>
            </a:r>
            <a:r>
              <a:rPr lang="en-US" dirty="0">
                <a:latin typeface="Mona Sans VF"/>
                <a:sym typeface="Wingdings" panose="05000000000000000000" pitchFamily="2" charset="2"/>
              </a:rPr>
              <a:t>  </a:t>
            </a:r>
            <a:endParaRPr lang="en-US" dirty="0">
              <a:latin typeface="Mona Sans VF"/>
            </a:endParaRPr>
          </a:p>
        </p:txBody>
      </p:sp>
      <p:sp>
        <p:nvSpPr>
          <p:cNvPr id="8" name="Content Placeholder 2">
            <a:extLst>
              <a:ext uri="{FF2B5EF4-FFF2-40B4-BE49-F238E27FC236}">
                <a16:creationId xmlns:a16="http://schemas.microsoft.com/office/drawing/2014/main" id="{EC3CC575-878E-EF36-DEE6-5E150986904D}"/>
              </a:ext>
            </a:extLst>
          </p:cNvPr>
          <p:cNvSpPr txBox="1">
            <a:spLocks/>
          </p:cNvSpPr>
          <p:nvPr/>
        </p:nvSpPr>
        <p:spPr>
          <a:xfrm>
            <a:off x="3021616" y="3569290"/>
            <a:ext cx="12278032" cy="11512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a:latin typeface="Mona Sans VF"/>
              </a:rPr>
              <a:t>Table 1. scenario  set-up for traffic and bandwidth, (Chat-</a:t>
            </a:r>
            <a:r>
              <a:rPr lang="en-US" sz="1800" dirty="0" err="1">
                <a:latin typeface="Mona Sans VF"/>
              </a:rPr>
              <a:t>gpt</a:t>
            </a:r>
            <a:r>
              <a:rPr lang="en-US" sz="1800" dirty="0">
                <a:latin typeface="Mona Sans VF"/>
              </a:rPr>
              <a:t>) </a:t>
            </a:r>
          </a:p>
        </p:txBody>
      </p:sp>
      <p:graphicFrame>
        <p:nvGraphicFramePr>
          <p:cNvPr id="2" name="Table 1">
            <a:extLst>
              <a:ext uri="{FF2B5EF4-FFF2-40B4-BE49-F238E27FC236}">
                <a16:creationId xmlns:a16="http://schemas.microsoft.com/office/drawing/2014/main" id="{B8E91AF8-25B3-F8CE-D3EB-D99ACAF40020}"/>
              </a:ext>
            </a:extLst>
          </p:cNvPr>
          <p:cNvGraphicFramePr>
            <a:graphicFrameLocks noGrp="1"/>
          </p:cNvGraphicFramePr>
          <p:nvPr>
            <p:extLst>
              <p:ext uri="{D42A27DB-BD31-4B8C-83A1-F6EECF244321}">
                <p14:modId xmlns:p14="http://schemas.microsoft.com/office/powerpoint/2010/main" val="2257032913"/>
              </p:ext>
            </p:extLst>
          </p:nvPr>
        </p:nvGraphicFramePr>
        <p:xfrm>
          <a:off x="731684" y="1234440"/>
          <a:ext cx="10515600" cy="2194560"/>
        </p:xfrm>
        <a:graphic>
          <a:graphicData uri="http://schemas.openxmlformats.org/drawingml/2006/table">
            <a:tbl>
              <a:tblPr/>
              <a:tblGrid>
                <a:gridCol w="3505200">
                  <a:extLst>
                    <a:ext uri="{9D8B030D-6E8A-4147-A177-3AD203B41FA5}">
                      <a16:colId xmlns:a16="http://schemas.microsoft.com/office/drawing/2014/main" val="3642993415"/>
                    </a:ext>
                  </a:extLst>
                </a:gridCol>
                <a:gridCol w="3505200">
                  <a:extLst>
                    <a:ext uri="{9D8B030D-6E8A-4147-A177-3AD203B41FA5}">
                      <a16:colId xmlns:a16="http://schemas.microsoft.com/office/drawing/2014/main" val="2377402050"/>
                    </a:ext>
                  </a:extLst>
                </a:gridCol>
                <a:gridCol w="3505200">
                  <a:extLst>
                    <a:ext uri="{9D8B030D-6E8A-4147-A177-3AD203B41FA5}">
                      <a16:colId xmlns:a16="http://schemas.microsoft.com/office/drawing/2014/main" val="962789728"/>
                    </a:ext>
                  </a:extLst>
                </a:gridCol>
              </a:tblGrid>
              <a:tr h="0">
                <a:tc>
                  <a:txBody>
                    <a:bodyPr/>
                    <a:lstStyle/>
                    <a:p>
                      <a:r>
                        <a:rPr lang="en-US"/>
                        <a:t>Skenario</a:t>
                      </a:r>
                    </a:p>
                  </a:txBody>
                  <a:tcPr anchor="ctr">
                    <a:lnL>
                      <a:noFill/>
                    </a:lnL>
                    <a:lnR>
                      <a:noFill/>
                    </a:lnR>
                    <a:lnT>
                      <a:noFill/>
                    </a:lnT>
                    <a:lnB>
                      <a:noFill/>
                    </a:lnB>
                  </a:tcPr>
                </a:tc>
                <a:tc>
                  <a:txBody>
                    <a:bodyPr/>
                    <a:lstStyle/>
                    <a:p>
                      <a:pPr algn="r"/>
                      <a:r>
                        <a:rPr lang="en-US" dirty="0"/>
                        <a:t>Traffic</a:t>
                      </a:r>
                    </a:p>
                  </a:txBody>
                  <a:tcPr anchor="ctr">
                    <a:lnL>
                      <a:noFill/>
                    </a:lnL>
                    <a:lnR>
                      <a:noFill/>
                    </a:lnR>
                    <a:lnT>
                      <a:noFill/>
                    </a:lnT>
                    <a:lnB>
                      <a:noFill/>
                    </a:lnB>
                  </a:tcPr>
                </a:tc>
                <a:tc>
                  <a:txBody>
                    <a:bodyPr/>
                    <a:lstStyle/>
                    <a:p>
                      <a:pPr algn="r"/>
                      <a:r>
                        <a:rPr lang="en-US"/>
                        <a:t>Bandwidth</a:t>
                      </a:r>
                    </a:p>
                  </a:txBody>
                  <a:tcPr anchor="ctr">
                    <a:lnL>
                      <a:noFill/>
                    </a:lnL>
                    <a:lnR>
                      <a:noFill/>
                    </a:lnR>
                    <a:lnT>
                      <a:noFill/>
                    </a:lnT>
                    <a:lnB>
                      <a:noFill/>
                    </a:lnB>
                  </a:tcPr>
                </a:tc>
                <a:extLst>
                  <a:ext uri="{0D108BD9-81ED-4DB2-BD59-A6C34878D82A}">
                    <a16:rowId xmlns:a16="http://schemas.microsoft.com/office/drawing/2014/main" val="382570547"/>
                  </a:ext>
                </a:extLst>
              </a:tr>
              <a:tr h="0">
                <a:tc>
                  <a:txBody>
                    <a:bodyPr/>
                    <a:lstStyle/>
                    <a:p>
                      <a:r>
                        <a:rPr lang="en-US" dirty="0"/>
                        <a:t>S1</a:t>
                      </a:r>
                    </a:p>
                  </a:txBody>
                  <a:tcPr anchor="ctr">
                    <a:lnL>
                      <a:noFill/>
                    </a:lnL>
                    <a:lnR>
                      <a:noFill/>
                    </a:lnR>
                    <a:lnT>
                      <a:noFill/>
                    </a:lnT>
                    <a:lnB>
                      <a:noFill/>
                    </a:lnB>
                  </a:tcPr>
                </a:tc>
                <a:tc>
                  <a:txBody>
                    <a:bodyPr/>
                    <a:lstStyle/>
                    <a:p>
                      <a:pPr algn="r"/>
                      <a:r>
                        <a:rPr lang="en-US" dirty="0"/>
                        <a:t>10 Mbps</a:t>
                      </a:r>
                    </a:p>
                  </a:txBody>
                  <a:tcPr anchor="ctr">
                    <a:lnL>
                      <a:noFill/>
                    </a:lnL>
                    <a:lnR>
                      <a:noFill/>
                    </a:lnR>
                    <a:lnT>
                      <a:noFill/>
                    </a:lnT>
                    <a:lnB>
                      <a:noFill/>
                    </a:lnB>
                  </a:tcPr>
                </a:tc>
                <a:tc>
                  <a:txBody>
                    <a:bodyPr/>
                    <a:lstStyle/>
                    <a:p>
                      <a:pPr algn="r"/>
                      <a:r>
                        <a:rPr lang="en-US" dirty="0"/>
                        <a:t>1 Mbps</a:t>
                      </a:r>
                    </a:p>
                  </a:txBody>
                  <a:tcPr anchor="ctr">
                    <a:lnL>
                      <a:noFill/>
                    </a:lnL>
                    <a:lnR>
                      <a:noFill/>
                    </a:lnR>
                    <a:lnT>
                      <a:noFill/>
                    </a:lnT>
                    <a:lnB>
                      <a:noFill/>
                    </a:lnB>
                  </a:tcPr>
                </a:tc>
                <a:extLst>
                  <a:ext uri="{0D108BD9-81ED-4DB2-BD59-A6C34878D82A}">
                    <a16:rowId xmlns:a16="http://schemas.microsoft.com/office/drawing/2014/main" val="4208404141"/>
                  </a:ext>
                </a:extLst>
              </a:tr>
              <a:tr h="0">
                <a:tc>
                  <a:txBody>
                    <a:bodyPr/>
                    <a:lstStyle/>
                    <a:p>
                      <a:r>
                        <a:rPr lang="en-US"/>
                        <a:t>S2</a:t>
                      </a:r>
                    </a:p>
                  </a:txBody>
                  <a:tcPr anchor="ctr">
                    <a:lnL>
                      <a:noFill/>
                    </a:lnL>
                    <a:lnR>
                      <a:noFill/>
                    </a:lnR>
                    <a:lnT>
                      <a:noFill/>
                    </a:lnT>
                    <a:lnB>
                      <a:noFill/>
                    </a:lnB>
                  </a:tcPr>
                </a:tc>
                <a:tc>
                  <a:txBody>
                    <a:bodyPr/>
                    <a:lstStyle/>
                    <a:p>
                      <a:pPr algn="r"/>
                      <a:r>
                        <a:rPr lang="en-US" dirty="0"/>
                        <a:t>10 Mbps</a:t>
                      </a:r>
                    </a:p>
                  </a:txBody>
                  <a:tcPr anchor="ctr">
                    <a:lnL>
                      <a:noFill/>
                    </a:lnL>
                    <a:lnR>
                      <a:noFill/>
                    </a:lnR>
                    <a:lnT>
                      <a:noFill/>
                    </a:lnT>
                    <a:lnB>
                      <a:noFill/>
                    </a:lnB>
                  </a:tcPr>
                </a:tc>
                <a:tc>
                  <a:txBody>
                    <a:bodyPr/>
                    <a:lstStyle/>
                    <a:p>
                      <a:pPr algn="r"/>
                      <a:r>
                        <a:rPr lang="en-US" dirty="0"/>
                        <a:t>3 Mbps</a:t>
                      </a:r>
                    </a:p>
                  </a:txBody>
                  <a:tcPr anchor="ctr">
                    <a:lnL>
                      <a:noFill/>
                    </a:lnL>
                    <a:lnR>
                      <a:noFill/>
                    </a:lnR>
                    <a:lnT>
                      <a:noFill/>
                    </a:lnT>
                    <a:lnB>
                      <a:noFill/>
                    </a:lnB>
                  </a:tcPr>
                </a:tc>
                <a:extLst>
                  <a:ext uri="{0D108BD9-81ED-4DB2-BD59-A6C34878D82A}">
                    <a16:rowId xmlns:a16="http://schemas.microsoft.com/office/drawing/2014/main" val="1704018081"/>
                  </a:ext>
                </a:extLst>
              </a:tr>
              <a:tr h="0">
                <a:tc>
                  <a:txBody>
                    <a:bodyPr/>
                    <a:lstStyle/>
                    <a:p>
                      <a:r>
                        <a:rPr lang="en-US"/>
                        <a:t>S3</a:t>
                      </a:r>
                    </a:p>
                  </a:txBody>
                  <a:tcPr anchor="ctr">
                    <a:lnL>
                      <a:noFill/>
                    </a:lnL>
                    <a:lnR>
                      <a:noFill/>
                    </a:lnR>
                    <a:lnT>
                      <a:noFill/>
                    </a:lnT>
                    <a:lnB>
                      <a:noFill/>
                    </a:lnB>
                  </a:tcPr>
                </a:tc>
                <a:tc>
                  <a:txBody>
                    <a:bodyPr/>
                    <a:lstStyle/>
                    <a:p>
                      <a:pPr algn="r"/>
                      <a:r>
                        <a:rPr lang="en-US" dirty="0"/>
                        <a:t>10 Mbps</a:t>
                      </a:r>
                    </a:p>
                  </a:txBody>
                  <a:tcPr anchor="ctr">
                    <a:lnL>
                      <a:noFill/>
                    </a:lnL>
                    <a:lnR>
                      <a:noFill/>
                    </a:lnR>
                    <a:lnT>
                      <a:noFill/>
                    </a:lnT>
                    <a:lnB>
                      <a:noFill/>
                    </a:lnB>
                  </a:tcPr>
                </a:tc>
                <a:tc>
                  <a:txBody>
                    <a:bodyPr/>
                    <a:lstStyle/>
                    <a:p>
                      <a:pPr algn="r"/>
                      <a:r>
                        <a:rPr lang="en-US" dirty="0"/>
                        <a:t>10 Mbps</a:t>
                      </a:r>
                    </a:p>
                  </a:txBody>
                  <a:tcPr anchor="ctr">
                    <a:lnL>
                      <a:noFill/>
                    </a:lnL>
                    <a:lnR>
                      <a:noFill/>
                    </a:lnR>
                    <a:lnT>
                      <a:noFill/>
                    </a:lnT>
                    <a:lnB>
                      <a:noFill/>
                    </a:lnB>
                  </a:tcPr>
                </a:tc>
                <a:extLst>
                  <a:ext uri="{0D108BD9-81ED-4DB2-BD59-A6C34878D82A}">
                    <a16:rowId xmlns:a16="http://schemas.microsoft.com/office/drawing/2014/main" val="917665567"/>
                  </a:ext>
                </a:extLst>
              </a:tr>
              <a:tr h="0">
                <a:tc>
                  <a:txBody>
                    <a:bodyPr/>
                    <a:lstStyle/>
                    <a:p>
                      <a:r>
                        <a:rPr lang="en-US"/>
                        <a:t>S4</a:t>
                      </a:r>
                    </a:p>
                  </a:txBody>
                  <a:tcPr anchor="ctr">
                    <a:lnL>
                      <a:noFill/>
                    </a:lnL>
                    <a:lnR>
                      <a:noFill/>
                    </a:lnR>
                    <a:lnT>
                      <a:noFill/>
                    </a:lnT>
                    <a:lnB>
                      <a:noFill/>
                    </a:lnB>
                  </a:tcPr>
                </a:tc>
                <a:tc>
                  <a:txBody>
                    <a:bodyPr/>
                    <a:lstStyle/>
                    <a:p>
                      <a:pPr algn="r"/>
                      <a:r>
                        <a:rPr lang="en-US" dirty="0"/>
                        <a:t>10 Mbps</a:t>
                      </a:r>
                    </a:p>
                  </a:txBody>
                  <a:tcPr anchor="ctr">
                    <a:lnL>
                      <a:noFill/>
                    </a:lnL>
                    <a:lnR>
                      <a:noFill/>
                    </a:lnR>
                    <a:lnT>
                      <a:noFill/>
                    </a:lnT>
                    <a:lnB>
                      <a:noFill/>
                    </a:lnB>
                  </a:tcPr>
                </a:tc>
                <a:tc>
                  <a:txBody>
                    <a:bodyPr/>
                    <a:lstStyle/>
                    <a:p>
                      <a:pPr algn="r"/>
                      <a:r>
                        <a:rPr lang="en-US" dirty="0"/>
                        <a:t>12 Mbps</a:t>
                      </a:r>
                    </a:p>
                  </a:txBody>
                  <a:tcPr anchor="ctr">
                    <a:lnL>
                      <a:noFill/>
                    </a:lnL>
                    <a:lnR>
                      <a:noFill/>
                    </a:lnR>
                    <a:lnT>
                      <a:noFill/>
                    </a:lnT>
                    <a:lnB>
                      <a:noFill/>
                    </a:lnB>
                  </a:tcPr>
                </a:tc>
                <a:extLst>
                  <a:ext uri="{0D108BD9-81ED-4DB2-BD59-A6C34878D82A}">
                    <a16:rowId xmlns:a16="http://schemas.microsoft.com/office/drawing/2014/main" val="517665319"/>
                  </a:ext>
                </a:extLst>
              </a:tr>
              <a:tr h="0">
                <a:tc>
                  <a:txBody>
                    <a:bodyPr/>
                    <a:lstStyle/>
                    <a:p>
                      <a:r>
                        <a:rPr lang="en-US"/>
                        <a:t>S5</a:t>
                      </a:r>
                    </a:p>
                  </a:txBody>
                  <a:tcPr anchor="ctr">
                    <a:lnL>
                      <a:noFill/>
                    </a:lnL>
                    <a:lnR>
                      <a:noFill/>
                    </a:lnR>
                    <a:lnT>
                      <a:noFill/>
                    </a:lnT>
                    <a:lnB>
                      <a:noFill/>
                    </a:lnB>
                  </a:tcPr>
                </a:tc>
                <a:tc>
                  <a:txBody>
                    <a:bodyPr/>
                    <a:lstStyle/>
                    <a:p>
                      <a:pPr algn="r"/>
                      <a:r>
                        <a:rPr lang="en-US" dirty="0"/>
                        <a:t>10 Mbps</a:t>
                      </a:r>
                    </a:p>
                  </a:txBody>
                  <a:tcPr anchor="ctr">
                    <a:lnL>
                      <a:noFill/>
                    </a:lnL>
                    <a:lnR>
                      <a:noFill/>
                    </a:lnR>
                    <a:lnT>
                      <a:noFill/>
                    </a:lnT>
                    <a:lnB>
                      <a:noFill/>
                    </a:lnB>
                  </a:tcPr>
                </a:tc>
                <a:tc>
                  <a:txBody>
                    <a:bodyPr/>
                    <a:lstStyle/>
                    <a:p>
                      <a:pPr algn="r"/>
                      <a:r>
                        <a:rPr lang="en-US" dirty="0"/>
                        <a:t>30 Mbps</a:t>
                      </a:r>
                    </a:p>
                  </a:txBody>
                  <a:tcPr anchor="ctr">
                    <a:lnL>
                      <a:noFill/>
                    </a:lnL>
                    <a:lnR>
                      <a:noFill/>
                    </a:lnR>
                    <a:lnT>
                      <a:noFill/>
                    </a:lnT>
                    <a:lnB>
                      <a:noFill/>
                    </a:lnB>
                  </a:tcPr>
                </a:tc>
                <a:extLst>
                  <a:ext uri="{0D108BD9-81ED-4DB2-BD59-A6C34878D82A}">
                    <a16:rowId xmlns:a16="http://schemas.microsoft.com/office/drawing/2014/main" val="4101793996"/>
                  </a:ext>
                </a:extLst>
              </a:tr>
            </a:tbl>
          </a:graphicData>
        </a:graphic>
      </p:graphicFrame>
      <p:sp>
        <p:nvSpPr>
          <p:cNvPr id="4" name="Content Placeholder 2">
            <a:extLst>
              <a:ext uri="{FF2B5EF4-FFF2-40B4-BE49-F238E27FC236}">
                <a16:creationId xmlns:a16="http://schemas.microsoft.com/office/drawing/2014/main" id="{2F231248-ABBC-7E2E-BD00-E5199E40CB95}"/>
              </a:ext>
            </a:extLst>
          </p:cNvPr>
          <p:cNvSpPr txBox="1">
            <a:spLocks/>
          </p:cNvSpPr>
          <p:nvPr/>
        </p:nvSpPr>
        <p:spPr>
          <a:xfrm>
            <a:off x="731684" y="632972"/>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latin typeface="Mona Sans VF"/>
              </a:rPr>
              <a:t>Set-up Traffic and </a:t>
            </a:r>
            <a:r>
              <a:rPr lang="en-US" dirty="0" err="1">
                <a:latin typeface="Mona Sans VF"/>
              </a:rPr>
              <a:t>bandwith</a:t>
            </a:r>
            <a:r>
              <a:rPr lang="en-US" dirty="0">
                <a:latin typeface="Mona Sans VF"/>
              </a:rPr>
              <a:t> as value parameter for input  </a:t>
            </a:r>
          </a:p>
        </p:txBody>
      </p:sp>
      <p:graphicFrame>
        <p:nvGraphicFramePr>
          <p:cNvPr id="5" name="Table 4">
            <a:extLst>
              <a:ext uri="{FF2B5EF4-FFF2-40B4-BE49-F238E27FC236}">
                <a16:creationId xmlns:a16="http://schemas.microsoft.com/office/drawing/2014/main" id="{7E349939-B68E-DB72-D35A-86AB49A941FB}"/>
              </a:ext>
            </a:extLst>
          </p:cNvPr>
          <p:cNvGraphicFramePr>
            <a:graphicFrameLocks noGrp="1"/>
          </p:cNvGraphicFramePr>
          <p:nvPr>
            <p:extLst>
              <p:ext uri="{D42A27DB-BD31-4B8C-83A1-F6EECF244321}">
                <p14:modId xmlns:p14="http://schemas.microsoft.com/office/powerpoint/2010/main" val="3046886450"/>
              </p:ext>
            </p:extLst>
          </p:nvPr>
        </p:nvGraphicFramePr>
        <p:xfrm>
          <a:off x="415413" y="3988034"/>
          <a:ext cx="10515600" cy="2194560"/>
        </p:xfrm>
        <a:graphic>
          <a:graphicData uri="http://schemas.openxmlformats.org/drawingml/2006/table">
            <a:tbl>
              <a:tblPr/>
              <a:tblGrid>
                <a:gridCol w="2103120">
                  <a:extLst>
                    <a:ext uri="{9D8B030D-6E8A-4147-A177-3AD203B41FA5}">
                      <a16:colId xmlns:a16="http://schemas.microsoft.com/office/drawing/2014/main" val="3505510250"/>
                    </a:ext>
                  </a:extLst>
                </a:gridCol>
                <a:gridCol w="2103120">
                  <a:extLst>
                    <a:ext uri="{9D8B030D-6E8A-4147-A177-3AD203B41FA5}">
                      <a16:colId xmlns:a16="http://schemas.microsoft.com/office/drawing/2014/main" val="407013231"/>
                    </a:ext>
                  </a:extLst>
                </a:gridCol>
                <a:gridCol w="2103120">
                  <a:extLst>
                    <a:ext uri="{9D8B030D-6E8A-4147-A177-3AD203B41FA5}">
                      <a16:colId xmlns:a16="http://schemas.microsoft.com/office/drawing/2014/main" val="4233732633"/>
                    </a:ext>
                  </a:extLst>
                </a:gridCol>
                <a:gridCol w="2103120">
                  <a:extLst>
                    <a:ext uri="{9D8B030D-6E8A-4147-A177-3AD203B41FA5}">
                      <a16:colId xmlns:a16="http://schemas.microsoft.com/office/drawing/2014/main" val="2408181837"/>
                    </a:ext>
                  </a:extLst>
                </a:gridCol>
                <a:gridCol w="2103120">
                  <a:extLst>
                    <a:ext uri="{9D8B030D-6E8A-4147-A177-3AD203B41FA5}">
                      <a16:colId xmlns:a16="http://schemas.microsoft.com/office/drawing/2014/main" val="2508072952"/>
                    </a:ext>
                  </a:extLst>
                </a:gridCol>
              </a:tblGrid>
              <a:tr h="0">
                <a:tc>
                  <a:txBody>
                    <a:bodyPr/>
                    <a:lstStyle/>
                    <a:p>
                      <a:pPr algn="r"/>
                      <a:r>
                        <a:rPr lang="en-US"/>
                        <a:t>Bandwidth</a:t>
                      </a:r>
                    </a:p>
                  </a:txBody>
                  <a:tcPr anchor="ctr">
                    <a:lnL>
                      <a:noFill/>
                    </a:lnL>
                    <a:lnR>
                      <a:noFill/>
                    </a:lnR>
                    <a:lnT>
                      <a:noFill/>
                    </a:lnT>
                    <a:lnB>
                      <a:noFill/>
                    </a:lnB>
                  </a:tcPr>
                </a:tc>
                <a:tc>
                  <a:txBody>
                    <a:bodyPr/>
                    <a:lstStyle/>
                    <a:p>
                      <a:pPr algn="r"/>
                      <a:r>
                        <a:rPr lang="en-US"/>
                        <a:t>Throughput</a:t>
                      </a:r>
                    </a:p>
                  </a:txBody>
                  <a:tcPr anchor="ctr">
                    <a:lnL>
                      <a:noFill/>
                    </a:lnL>
                    <a:lnR>
                      <a:noFill/>
                    </a:lnR>
                    <a:lnT>
                      <a:noFill/>
                    </a:lnT>
                    <a:lnB>
                      <a:noFill/>
                    </a:lnB>
                  </a:tcPr>
                </a:tc>
                <a:tc>
                  <a:txBody>
                    <a:bodyPr/>
                    <a:lstStyle/>
                    <a:p>
                      <a:pPr algn="r"/>
                      <a:r>
                        <a:rPr lang="en-US"/>
                        <a:t>Delay</a:t>
                      </a:r>
                    </a:p>
                  </a:txBody>
                  <a:tcPr anchor="ctr">
                    <a:lnL>
                      <a:noFill/>
                    </a:lnL>
                    <a:lnR>
                      <a:noFill/>
                    </a:lnR>
                    <a:lnT>
                      <a:noFill/>
                    </a:lnT>
                    <a:lnB>
                      <a:noFill/>
                    </a:lnB>
                  </a:tcPr>
                </a:tc>
                <a:tc>
                  <a:txBody>
                    <a:bodyPr/>
                    <a:lstStyle/>
                    <a:p>
                      <a:pPr algn="r"/>
                      <a:r>
                        <a:rPr lang="en-US"/>
                        <a:t>Jitter</a:t>
                      </a:r>
                    </a:p>
                  </a:txBody>
                  <a:tcPr anchor="ctr">
                    <a:lnL>
                      <a:noFill/>
                    </a:lnL>
                    <a:lnR>
                      <a:noFill/>
                    </a:lnR>
                    <a:lnT>
                      <a:noFill/>
                    </a:lnT>
                    <a:lnB>
                      <a:noFill/>
                    </a:lnB>
                  </a:tcPr>
                </a:tc>
                <a:tc>
                  <a:txBody>
                    <a:bodyPr/>
                    <a:lstStyle/>
                    <a:p>
                      <a:pPr algn="r"/>
                      <a:r>
                        <a:rPr lang="en-US"/>
                        <a:t>Packet Loss</a:t>
                      </a:r>
                    </a:p>
                  </a:txBody>
                  <a:tcPr anchor="ctr">
                    <a:lnL>
                      <a:noFill/>
                    </a:lnL>
                    <a:lnR>
                      <a:noFill/>
                    </a:lnR>
                    <a:lnT>
                      <a:noFill/>
                    </a:lnT>
                    <a:lnB>
                      <a:noFill/>
                    </a:lnB>
                  </a:tcPr>
                </a:tc>
                <a:extLst>
                  <a:ext uri="{0D108BD9-81ED-4DB2-BD59-A6C34878D82A}">
                    <a16:rowId xmlns:a16="http://schemas.microsoft.com/office/drawing/2014/main" val="4013197086"/>
                  </a:ext>
                </a:extLst>
              </a:tr>
              <a:tr h="0">
                <a:tc>
                  <a:txBody>
                    <a:bodyPr/>
                    <a:lstStyle/>
                    <a:p>
                      <a:pPr algn="r"/>
                      <a:r>
                        <a:rPr lang="en-US" dirty="0"/>
                        <a:t>1 Mbps</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extLst>
                  <a:ext uri="{0D108BD9-81ED-4DB2-BD59-A6C34878D82A}">
                    <a16:rowId xmlns:a16="http://schemas.microsoft.com/office/drawing/2014/main" val="4061843428"/>
                  </a:ext>
                </a:extLst>
              </a:tr>
              <a:tr h="0">
                <a:tc>
                  <a:txBody>
                    <a:bodyPr/>
                    <a:lstStyle/>
                    <a:p>
                      <a:pPr algn="r"/>
                      <a:r>
                        <a:rPr lang="en-US" dirty="0"/>
                        <a:t>3 Mbps</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extLst>
                  <a:ext uri="{0D108BD9-81ED-4DB2-BD59-A6C34878D82A}">
                    <a16:rowId xmlns:a16="http://schemas.microsoft.com/office/drawing/2014/main" val="2396361089"/>
                  </a:ext>
                </a:extLst>
              </a:tr>
              <a:tr h="0">
                <a:tc>
                  <a:txBody>
                    <a:bodyPr/>
                    <a:lstStyle/>
                    <a:p>
                      <a:pPr algn="r"/>
                      <a:r>
                        <a:rPr lang="en-US" dirty="0"/>
                        <a:t>10 Mbps</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extLst>
                  <a:ext uri="{0D108BD9-81ED-4DB2-BD59-A6C34878D82A}">
                    <a16:rowId xmlns:a16="http://schemas.microsoft.com/office/drawing/2014/main" val="3080286145"/>
                  </a:ext>
                </a:extLst>
              </a:tr>
              <a:tr h="0">
                <a:tc>
                  <a:txBody>
                    <a:bodyPr/>
                    <a:lstStyle/>
                    <a:p>
                      <a:pPr algn="r"/>
                      <a:r>
                        <a:rPr lang="en-US" dirty="0"/>
                        <a:t>12 Mbps</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extLst>
                  <a:ext uri="{0D108BD9-81ED-4DB2-BD59-A6C34878D82A}">
                    <a16:rowId xmlns:a16="http://schemas.microsoft.com/office/drawing/2014/main" val="592586342"/>
                  </a:ext>
                </a:extLst>
              </a:tr>
              <a:tr h="0">
                <a:tc>
                  <a:txBody>
                    <a:bodyPr/>
                    <a:lstStyle/>
                    <a:p>
                      <a:pPr algn="r"/>
                      <a:r>
                        <a:rPr lang="en-US" dirty="0"/>
                        <a:t>30 Mbps</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tc>
                  <a:txBody>
                    <a:bodyPr/>
                    <a:lstStyle/>
                    <a:p>
                      <a:pPr algn="r"/>
                      <a:r>
                        <a:rPr lang="en-US" dirty="0"/>
                        <a:t>?</a:t>
                      </a:r>
                    </a:p>
                  </a:txBody>
                  <a:tcPr anchor="ctr">
                    <a:lnL>
                      <a:noFill/>
                    </a:lnL>
                    <a:lnR>
                      <a:noFill/>
                    </a:lnR>
                    <a:lnT>
                      <a:noFill/>
                    </a:lnT>
                    <a:lnB>
                      <a:noFill/>
                    </a:lnB>
                  </a:tcPr>
                </a:tc>
                <a:extLst>
                  <a:ext uri="{0D108BD9-81ED-4DB2-BD59-A6C34878D82A}">
                    <a16:rowId xmlns:a16="http://schemas.microsoft.com/office/drawing/2014/main" val="2957930363"/>
                  </a:ext>
                </a:extLst>
              </a:tr>
            </a:tbl>
          </a:graphicData>
        </a:graphic>
      </p:graphicFrame>
      <p:sp>
        <p:nvSpPr>
          <p:cNvPr id="6" name="Content Placeholder 2">
            <a:extLst>
              <a:ext uri="{FF2B5EF4-FFF2-40B4-BE49-F238E27FC236}">
                <a16:creationId xmlns:a16="http://schemas.microsoft.com/office/drawing/2014/main" id="{319BFD8A-5A64-9321-2585-B8AF792FE86D}"/>
              </a:ext>
            </a:extLst>
          </p:cNvPr>
          <p:cNvSpPr txBox="1">
            <a:spLocks/>
          </p:cNvSpPr>
          <p:nvPr/>
        </p:nvSpPr>
        <p:spPr>
          <a:xfrm>
            <a:off x="1192816" y="6282353"/>
            <a:ext cx="12278032" cy="11512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a:latin typeface="Mona Sans VF"/>
              </a:rPr>
              <a:t>Table 2. measures each parameter Throughput, Delay, Jitter, Packet Loss with various conditions, (Chat-</a:t>
            </a:r>
            <a:r>
              <a:rPr lang="en-US" sz="1800" dirty="0" err="1">
                <a:latin typeface="Mona Sans VF"/>
              </a:rPr>
              <a:t>gpt</a:t>
            </a:r>
            <a:r>
              <a:rPr lang="en-US" sz="1800" dirty="0">
                <a:latin typeface="Mona Sans VF"/>
              </a:rPr>
              <a:t>)</a:t>
            </a:r>
          </a:p>
        </p:txBody>
      </p:sp>
    </p:spTree>
    <p:extLst>
      <p:ext uri="{BB962C8B-B14F-4D97-AF65-F5344CB8AC3E}">
        <p14:creationId xmlns:p14="http://schemas.microsoft.com/office/powerpoint/2010/main" val="32482851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9AB50-CCE6-077D-FA8E-1F2C87427E85}"/>
              </a:ext>
            </a:extLst>
          </p:cNvPr>
          <p:cNvSpPr>
            <a:spLocks noGrp="1"/>
          </p:cNvSpPr>
          <p:nvPr>
            <p:ph type="title"/>
          </p:nvPr>
        </p:nvSpPr>
        <p:spPr>
          <a:xfrm>
            <a:off x="187864" y="-104513"/>
            <a:ext cx="10515600" cy="1325563"/>
          </a:xfrm>
        </p:spPr>
        <p:txBody>
          <a:bodyPr/>
          <a:lstStyle/>
          <a:p>
            <a:r>
              <a:rPr lang="en-US" b="1" dirty="0">
                <a:latin typeface="Mona Sans VF"/>
              </a:rPr>
              <a:t>4</a:t>
            </a:r>
            <a:r>
              <a:rPr lang="en-US" b="1" i="0" dirty="0">
                <a:effectLst/>
                <a:latin typeface="Mona Sans VF"/>
              </a:rPr>
              <a:t>. Expected outcomes:</a:t>
            </a:r>
            <a:endParaRPr lang="en-US" dirty="0"/>
          </a:p>
        </p:txBody>
      </p:sp>
      <p:sp>
        <p:nvSpPr>
          <p:cNvPr id="3" name="Content Placeholder 2">
            <a:extLst>
              <a:ext uri="{FF2B5EF4-FFF2-40B4-BE49-F238E27FC236}">
                <a16:creationId xmlns:a16="http://schemas.microsoft.com/office/drawing/2014/main" id="{94BD41A6-F36B-0B45-1753-F7014323719A}"/>
              </a:ext>
            </a:extLst>
          </p:cNvPr>
          <p:cNvSpPr>
            <a:spLocks noGrp="1"/>
          </p:cNvSpPr>
          <p:nvPr>
            <p:ph idx="1"/>
          </p:nvPr>
        </p:nvSpPr>
        <p:spPr>
          <a:xfrm>
            <a:off x="24000" y="903071"/>
            <a:ext cx="12278032" cy="4732491"/>
          </a:xfrm>
        </p:spPr>
        <p:txBody>
          <a:bodyPr>
            <a:normAutofit/>
          </a:bodyPr>
          <a:lstStyle/>
          <a:p>
            <a:pPr marL="0" indent="0">
              <a:buNone/>
            </a:pPr>
            <a:r>
              <a:rPr lang="en-US" dirty="0">
                <a:latin typeface="Mona Sans VF"/>
              </a:rPr>
              <a:t>Below are the desired results of the research. First, the effect of throughput on bandwidth. Second, the effect of delay on bandwidth. Third, the effect of packet loss on bandwidth. Fourth, the effect of jitter on bandwidth.</a:t>
            </a:r>
          </a:p>
        </p:txBody>
      </p:sp>
      <p:pic>
        <p:nvPicPr>
          <p:cNvPr id="5" name="Picture 4">
            <a:extLst>
              <a:ext uri="{FF2B5EF4-FFF2-40B4-BE49-F238E27FC236}">
                <a16:creationId xmlns:a16="http://schemas.microsoft.com/office/drawing/2014/main" id="{FE9F6AF9-8161-4BB9-50AA-856F039B9425}"/>
              </a:ext>
            </a:extLst>
          </p:cNvPr>
          <p:cNvPicPr>
            <a:picLocks noChangeAspect="1"/>
          </p:cNvPicPr>
          <p:nvPr/>
        </p:nvPicPr>
        <p:blipFill>
          <a:blip r:embed="rId2"/>
          <a:stretch>
            <a:fillRect/>
          </a:stretch>
        </p:blipFill>
        <p:spPr>
          <a:xfrm>
            <a:off x="2847019" y="4225039"/>
            <a:ext cx="2598645" cy="1729890"/>
          </a:xfrm>
          <a:prstGeom prst="rect">
            <a:avLst/>
          </a:prstGeom>
        </p:spPr>
      </p:pic>
      <p:pic>
        <p:nvPicPr>
          <p:cNvPr id="7" name="Picture 6">
            <a:extLst>
              <a:ext uri="{FF2B5EF4-FFF2-40B4-BE49-F238E27FC236}">
                <a16:creationId xmlns:a16="http://schemas.microsoft.com/office/drawing/2014/main" id="{EAD41A0F-0AE9-57F8-958C-9AF8AF8AB8BB}"/>
              </a:ext>
            </a:extLst>
          </p:cNvPr>
          <p:cNvPicPr>
            <a:picLocks noChangeAspect="1"/>
          </p:cNvPicPr>
          <p:nvPr/>
        </p:nvPicPr>
        <p:blipFill>
          <a:blip r:embed="rId3"/>
          <a:stretch>
            <a:fillRect/>
          </a:stretch>
        </p:blipFill>
        <p:spPr>
          <a:xfrm>
            <a:off x="6096001" y="2388317"/>
            <a:ext cx="2484335" cy="1729890"/>
          </a:xfrm>
          <a:prstGeom prst="rect">
            <a:avLst/>
          </a:prstGeom>
        </p:spPr>
      </p:pic>
      <p:pic>
        <p:nvPicPr>
          <p:cNvPr id="9" name="Picture 8">
            <a:extLst>
              <a:ext uri="{FF2B5EF4-FFF2-40B4-BE49-F238E27FC236}">
                <a16:creationId xmlns:a16="http://schemas.microsoft.com/office/drawing/2014/main" id="{3B378F98-8C74-728D-30FE-988205FE0981}"/>
              </a:ext>
            </a:extLst>
          </p:cNvPr>
          <p:cNvPicPr>
            <a:picLocks noChangeAspect="1"/>
          </p:cNvPicPr>
          <p:nvPr/>
        </p:nvPicPr>
        <p:blipFill>
          <a:blip r:embed="rId4"/>
          <a:stretch>
            <a:fillRect/>
          </a:stretch>
        </p:blipFill>
        <p:spPr>
          <a:xfrm>
            <a:off x="3072462" y="2388317"/>
            <a:ext cx="2415749" cy="1729890"/>
          </a:xfrm>
          <a:prstGeom prst="rect">
            <a:avLst/>
          </a:prstGeom>
        </p:spPr>
      </p:pic>
      <p:pic>
        <p:nvPicPr>
          <p:cNvPr id="11" name="Picture 10">
            <a:extLst>
              <a:ext uri="{FF2B5EF4-FFF2-40B4-BE49-F238E27FC236}">
                <a16:creationId xmlns:a16="http://schemas.microsoft.com/office/drawing/2014/main" id="{D3F3468D-18D3-9D39-9656-0B48E3470457}"/>
              </a:ext>
            </a:extLst>
          </p:cNvPr>
          <p:cNvPicPr>
            <a:picLocks noChangeAspect="1"/>
          </p:cNvPicPr>
          <p:nvPr/>
        </p:nvPicPr>
        <p:blipFill>
          <a:blip r:embed="rId5"/>
          <a:stretch>
            <a:fillRect/>
          </a:stretch>
        </p:blipFill>
        <p:spPr>
          <a:xfrm>
            <a:off x="6096000" y="4225039"/>
            <a:ext cx="2484335" cy="1729890"/>
          </a:xfrm>
          <a:prstGeom prst="rect">
            <a:avLst/>
          </a:prstGeom>
        </p:spPr>
      </p:pic>
      <p:sp>
        <p:nvSpPr>
          <p:cNvPr id="12" name="Rectangle 11">
            <a:extLst>
              <a:ext uri="{FF2B5EF4-FFF2-40B4-BE49-F238E27FC236}">
                <a16:creationId xmlns:a16="http://schemas.microsoft.com/office/drawing/2014/main" id="{09CFA411-6EA4-C179-A5B1-800504606B38}"/>
              </a:ext>
            </a:extLst>
          </p:cNvPr>
          <p:cNvSpPr/>
          <p:nvPr/>
        </p:nvSpPr>
        <p:spPr>
          <a:xfrm>
            <a:off x="3323303" y="2802194"/>
            <a:ext cx="1573162" cy="1042219"/>
          </a:xfrm>
          <a:prstGeom prst="rect">
            <a:avLst/>
          </a:prstGeom>
          <a:solidFill>
            <a:srgbClr val="212121"/>
          </a:solidFill>
          <a:ln>
            <a:solidFill>
              <a:srgbClr val="21212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274C9E6-8A17-DA6C-4AE7-09799892C992}"/>
              </a:ext>
            </a:extLst>
          </p:cNvPr>
          <p:cNvSpPr/>
          <p:nvPr/>
        </p:nvSpPr>
        <p:spPr>
          <a:xfrm>
            <a:off x="6454877" y="2802193"/>
            <a:ext cx="1573162" cy="1042219"/>
          </a:xfrm>
          <a:prstGeom prst="rect">
            <a:avLst/>
          </a:prstGeom>
          <a:solidFill>
            <a:srgbClr val="212121"/>
          </a:solidFill>
          <a:ln>
            <a:solidFill>
              <a:srgbClr val="21212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4CB5133-127C-A4B9-5625-E2AA43B578C6}"/>
              </a:ext>
            </a:extLst>
          </p:cNvPr>
          <p:cNvSpPr/>
          <p:nvPr/>
        </p:nvSpPr>
        <p:spPr>
          <a:xfrm>
            <a:off x="3200400" y="4753026"/>
            <a:ext cx="1573162" cy="1042219"/>
          </a:xfrm>
          <a:prstGeom prst="rect">
            <a:avLst/>
          </a:prstGeom>
          <a:solidFill>
            <a:srgbClr val="212121"/>
          </a:solidFill>
          <a:ln>
            <a:solidFill>
              <a:srgbClr val="21212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5683456-69B8-1BD8-7E7F-D38A8B7DA1C9}"/>
              </a:ext>
            </a:extLst>
          </p:cNvPr>
          <p:cNvSpPr/>
          <p:nvPr/>
        </p:nvSpPr>
        <p:spPr>
          <a:xfrm>
            <a:off x="6454877" y="4568874"/>
            <a:ext cx="1573162" cy="1042219"/>
          </a:xfrm>
          <a:prstGeom prst="rect">
            <a:avLst/>
          </a:prstGeom>
          <a:solidFill>
            <a:srgbClr val="212121"/>
          </a:solidFill>
          <a:ln>
            <a:solidFill>
              <a:srgbClr val="21212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Content Placeholder 2">
            <a:extLst>
              <a:ext uri="{FF2B5EF4-FFF2-40B4-BE49-F238E27FC236}">
                <a16:creationId xmlns:a16="http://schemas.microsoft.com/office/drawing/2014/main" id="{63A5A7D0-40E0-4EBE-9092-B8D59FF639F4}"/>
              </a:ext>
            </a:extLst>
          </p:cNvPr>
          <p:cNvSpPr txBox="1">
            <a:spLocks/>
          </p:cNvSpPr>
          <p:nvPr/>
        </p:nvSpPr>
        <p:spPr>
          <a:xfrm>
            <a:off x="734961" y="6139080"/>
            <a:ext cx="12278032" cy="47324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latin typeface="Mona Sans VF"/>
              </a:rPr>
              <a:t>Graph 1. collection of research results on the expected equation of 2 variables</a:t>
            </a:r>
          </a:p>
        </p:txBody>
      </p:sp>
    </p:spTree>
    <p:extLst>
      <p:ext uri="{BB962C8B-B14F-4D97-AF65-F5344CB8AC3E}">
        <p14:creationId xmlns:p14="http://schemas.microsoft.com/office/powerpoint/2010/main" val="4189473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408DD-57F9-3DEF-82B5-74C0F1BEE387}"/>
              </a:ext>
            </a:extLst>
          </p:cNvPr>
          <p:cNvSpPr>
            <a:spLocks noGrp="1"/>
          </p:cNvSpPr>
          <p:nvPr>
            <p:ph type="title"/>
          </p:nvPr>
        </p:nvSpPr>
        <p:spPr>
          <a:xfrm>
            <a:off x="739877" y="96939"/>
            <a:ext cx="10515600" cy="1325563"/>
          </a:xfrm>
        </p:spPr>
        <p:txBody>
          <a:bodyPr/>
          <a:lstStyle/>
          <a:p>
            <a:r>
              <a:rPr lang="en-US" dirty="0"/>
              <a:t>A1. Summary How to read</a:t>
            </a:r>
          </a:p>
        </p:txBody>
      </p:sp>
      <p:sp>
        <p:nvSpPr>
          <p:cNvPr id="3" name="Content Placeholder 2">
            <a:extLst>
              <a:ext uri="{FF2B5EF4-FFF2-40B4-BE49-F238E27FC236}">
                <a16:creationId xmlns:a16="http://schemas.microsoft.com/office/drawing/2014/main" id="{43A389C7-BBAE-BD3F-D04C-F51EFF6F0A03}"/>
              </a:ext>
            </a:extLst>
          </p:cNvPr>
          <p:cNvSpPr>
            <a:spLocks noGrp="1"/>
          </p:cNvSpPr>
          <p:nvPr>
            <p:ph idx="1"/>
          </p:nvPr>
        </p:nvSpPr>
        <p:spPr>
          <a:xfrm>
            <a:off x="621890" y="1253331"/>
            <a:ext cx="10515600" cy="4351338"/>
          </a:xfrm>
        </p:spPr>
        <p:txBody>
          <a:bodyPr>
            <a:normAutofit fontScale="47500" lnSpcReduction="20000"/>
          </a:bodyPr>
          <a:lstStyle/>
          <a:p>
            <a:pPr marL="0" indent="0" algn="just">
              <a:lnSpc>
                <a:spcPct val="170000"/>
              </a:lnSpc>
              <a:buNone/>
            </a:pPr>
            <a:r>
              <a:rPr lang="en-US" dirty="0">
                <a:latin typeface="Arial" panose="020B0604020202020204" pitchFamily="34" charset="0"/>
                <a:cs typeface="Arial" panose="020B0604020202020204" pitchFamily="34" charset="0"/>
              </a:rPr>
              <a:t>Researchers inevitably spend a lot of time reading scientific research journals. Researchers read journals to teach scientific knowledge from journals, convey it to students in classes or conferences, or to update their own knowledge. Most researchers waste time and effort because they cannot read research journals effectively and efficiently. Postgraduate researchers often use trial and error and waste a lot of time and effort, even feeling frustrated because they do not read research journals. This article overcomes all of these by reading journals using the three-pass method to conduct a literature survey. There are 3 challenges in each step from 1 to 3. The first step challenge is to read slowly for the </a:t>
            </a:r>
            <a:r>
              <a:rPr lang="en-US" dirty="0" err="1">
                <a:latin typeface="Arial" panose="020B0604020202020204" pitchFamily="34" charset="0"/>
                <a:cs typeface="Arial" panose="020B0604020202020204" pitchFamily="34" charset="0"/>
              </a:rPr>
              <a:t>title,abstract</a:t>
            </a:r>
            <a:r>
              <a:rPr lang="en-US" dirty="0">
                <a:latin typeface="Arial" panose="020B0604020202020204" pitchFamily="34" charset="0"/>
                <a:cs typeface="Arial" panose="020B0604020202020204" pitchFamily="34" charset="0"/>
              </a:rPr>
              <a:t>, and introduction and you must be able to answer the 5C parameters to understand. The second step challenge, labeled graphs and incorrect figures can be confusing. The third step challenge requires reading the journal 3 times to understand it. The method proposed for efficient reading is called THE THREE-PASS APPROACH. Generally, you should read a journal three times rather than starting from the beginning and working your way through. The first step gives you a general overview of the journal. The second step gives you a grasp of the journal's content, but not the details. The third step gives you a complete understanding. Reading journals using the THREE-PASS APPROACH method can help you understand journals more efficiently and conduct a literature survey to ensure you understand everything.</a:t>
            </a:r>
          </a:p>
        </p:txBody>
      </p:sp>
    </p:spTree>
    <p:extLst>
      <p:ext uri="{BB962C8B-B14F-4D97-AF65-F5344CB8AC3E}">
        <p14:creationId xmlns:p14="http://schemas.microsoft.com/office/powerpoint/2010/main" val="40025876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270</TotalTime>
  <Words>840</Words>
  <Application>Microsoft Office PowerPoint</Application>
  <PresentationFormat>Widescreen</PresentationFormat>
  <Paragraphs>81</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Mona Sans VF</vt:lpstr>
      <vt:lpstr>Arial</vt:lpstr>
      <vt:lpstr>Calibri</vt:lpstr>
      <vt:lpstr>Calibri Light</vt:lpstr>
      <vt:lpstr>Office Theme</vt:lpstr>
      <vt:lpstr>Analysis of the Influence of Bandwidth on QoS in IP Networks Using NS-3</vt:lpstr>
      <vt:lpstr>1. Problem to be solved:</vt:lpstr>
      <vt:lpstr>2. Key challenges:</vt:lpstr>
      <vt:lpstr>3. Proposed method:</vt:lpstr>
      <vt:lpstr>PowerPoint Presentation</vt:lpstr>
      <vt:lpstr>PowerPoint Presentation</vt:lpstr>
      <vt:lpstr>4. Expected outcomes:</vt:lpstr>
      <vt:lpstr>A1. Summary How to read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Analysis of the Influence of Bandwidth on QoS in IP Networks Using NS-3</dc:title>
  <dc:creator>Rahmat</dc:creator>
  <cp:lastModifiedBy>Rahmat</cp:lastModifiedBy>
  <cp:revision>5</cp:revision>
  <dcterms:created xsi:type="dcterms:W3CDTF">2026-09-19T05:14:52Z</dcterms:created>
  <dcterms:modified xsi:type="dcterms:W3CDTF">2026-09-19T09:44:56Z</dcterms:modified>
</cp:coreProperties>
</file>