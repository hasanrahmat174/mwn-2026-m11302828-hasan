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58" r:id="rId5"/>
    <p:sldId id="261" r:id="rId6"/>
    <p:sldId id="262" r:id="rId7"/>
    <p:sldId id="264" r:id="rId8"/>
    <p:sldId id="269" r:id="rId9"/>
    <p:sldId id="270" r:id="rId10"/>
    <p:sldId id="265" r:id="rId11"/>
    <p:sldId id="272" r:id="rId12"/>
    <p:sldId id="273" r:id="rId13"/>
    <p:sldId id="274" r:id="rId14"/>
    <p:sldId id="27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81E3F-7C30-B6E1-ED30-2E3AEFFE34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44F84F-3512-3813-163B-2419F28F99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C42720-9DC8-F248-DA3A-1F61F68D9147}"/>
              </a:ext>
            </a:extLst>
          </p:cNvPr>
          <p:cNvSpPr>
            <a:spLocks noGrp="1"/>
          </p:cNvSpPr>
          <p:nvPr>
            <p:ph type="dt" sz="half" idx="10"/>
          </p:nvPr>
        </p:nvSpPr>
        <p:spPr/>
        <p:txBody>
          <a:bodyPr/>
          <a:lstStyle/>
          <a:p>
            <a:fld id="{399F7520-E07E-4FCB-AB6E-CD545857A848}" type="datetimeFigureOut">
              <a:rPr lang="en-US" smtClean="0"/>
              <a:t>10/26/2026</a:t>
            </a:fld>
            <a:endParaRPr lang="en-US"/>
          </a:p>
        </p:txBody>
      </p:sp>
      <p:sp>
        <p:nvSpPr>
          <p:cNvPr id="5" name="Footer Placeholder 4">
            <a:extLst>
              <a:ext uri="{FF2B5EF4-FFF2-40B4-BE49-F238E27FC236}">
                <a16:creationId xmlns:a16="http://schemas.microsoft.com/office/drawing/2014/main" id="{1D52945E-75E5-8D93-4372-2CD32A7371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8FE3F-6EE7-4158-2793-12252B571289}"/>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2209745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35423-4556-8246-C745-1334237764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99AFD2-F855-0C90-3A79-0C2ECDF844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8D96D2-7E27-097E-4598-8888C9F13AD2}"/>
              </a:ext>
            </a:extLst>
          </p:cNvPr>
          <p:cNvSpPr>
            <a:spLocks noGrp="1"/>
          </p:cNvSpPr>
          <p:nvPr>
            <p:ph type="dt" sz="half" idx="10"/>
          </p:nvPr>
        </p:nvSpPr>
        <p:spPr/>
        <p:txBody>
          <a:bodyPr/>
          <a:lstStyle/>
          <a:p>
            <a:fld id="{399F7520-E07E-4FCB-AB6E-CD545857A848}" type="datetimeFigureOut">
              <a:rPr lang="en-US" smtClean="0"/>
              <a:t>10/26/2026</a:t>
            </a:fld>
            <a:endParaRPr lang="en-US"/>
          </a:p>
        </p:txBody>
      </p:sp>
      <p:sp>
        <p:nvSpPr>
          <p:cNvPr id="5" name="Footer Placeholder 4">
            <a:extLst>
              <a:ext uri="{FF2B5EF4-FFF2-40B4-BE49-F238E27FC236}">
                <a16:creationId xmlns:a16="http://schemas.microsoft.com/office/drawing/2014/main" id="{71613B61-018B-2837-891B-8157CB9D11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252EA0-F43B-FE3C-7230-77087E23812B}"/>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179496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0BDD0-300B-DF1B-7530-BC9AC47D38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CAAF62-FE7D-0DB5-7A60-A5D2D9E408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03496A-C1B3-855D-EE4D-0CBB9AFE7719}"/>
              </a:ext>
            </a:extLst>
          </p:cNvPr>
          <p:cNvSpPr>
            <a:spLocks noGrp="1"/>
          </p:cNvSpPr>
          <p:nvPr>
            <p:ph type="dt" sz="half" idx="10"/>
          </p:nvPr>
        </p:nvSpPr>
        <p:spPr/>
        <p:txBody>
          <a:bodyPr/>
          <a:lstStyle/>
          <a:p>
            <a:fld id="{399F7520-E07E-4FCB-AB6E-CD545857A848}" type="datetimeFigureOut">
              <a:rPr lang="en-US" smtClean="0"/>
              <a:t>10/26/2026</a:t>
            </a:fld>
            <a:endParaRPr lang="en-US"/>
          </a:p>
        </p:txBody>
      </p:sp>
      <p:sp>
        <p:nvSpPr>
          <p:cNvPr id="5" name="Footer Placeholder 4">
            <a:extLst>
              <a:ext uri="{FF2B5EF4-FFF2-40B4-BE49-F238E27FC236}">
                <a16:creationId xmlns:a16="http://schemas.microsoft.com/office/drawing/2014/main" id="{D1B5452F-C722-7A61-5EFE-4BE44350DB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75372F-2EB8-AA9E-09C0-67194550C06C}"/>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2348038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F8E3C-7355-A055-681C-A39F69B1FE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A19623-3033-D1F3-76FA-7CE1C2A266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D72938-A967-AB27-8C1D-4E341EC0A5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E97C0D-987E-CF0F-5BBF-E30262369A10}"/>
              </a:ext>
            </a:extLst>
          </p:cNvPr>
          <p:cNvSpPr>
            <a:spLocks noGrp="1"/>
          </p:cNvSpPr>
          <p:nvPr>
            <p:ph type="dt" sz="half" idx="10"/>
          </p:nvPr>
        </p:nvSpPr>
        <p:spPr/>
        <p:txBody>
          <a:bodyPr/>
          <a:lstStyle/>
          <a:p>
            <a:fld id="{399F7520-E07E-4FCB-AB6E-CD545857A848}" type="datetimeFigureOut">
              <a:rPr lang="en-US" smtClean="0"/>
              <a:t>10/26/2026</a:t>
            </a:fld>
            <a:endParaRPr lang="en-US"/>
          </a:p>
        </p:txBody>
      </p:sp>
      <p:sp>
        <p:nvSpPr>
          <p:cNvPr id="6" name="Footer Placeholder 5">
            <a:extLst>
              <a:ext uri="{FF2B5EF4-FFF2-40B4-BE49-F238E27FC236}">
                <a16:creationId xmlns:a16="http://schemas.microsoft.com/office/drawing/2014/main" id="{3948807E-D3C0-2F66-D5C3-98F39C6D44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AC18E8-3CA3-DDDF-37C7-26FE0998B343}"/>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14840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514F4-663F-5BD5-38F4-454B55C958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55007E-E5F3-1E1A-EB7A-CF885439EA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B992C5-5924-5945-CFCD-1D6F78DB82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FCD967-33F4-6797-62BF-15EC4F8318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0DECF7-3F97-48BA-6A02-5F07865B11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1D1A2B-A8E9-5DB8-CF3A-769AD5671DEC}"/>
              </a:ext>
            </a:extLst>
          </p:cNvPr>
          <p:cNvSpPr>
            <a:spLocks noGrp="1"/>
          </p:cNvSpPr>
          <p:nvPr>
            <p:ph type="dt" sz="half" idx="10"/>
          </p:nvPr>
        </p:nvSpPr>
        <p:spPr/>
        <p:txBody>
          <a:bodyPr/>
          <a:lstStyle/>
          <a:p>
            <a:fld id="{399F7520-E07E-4FCB-AB6E-CD545857A848}" type="datetimeFigureOut">
              <a:rPr lang="en-US" smtClean="0"/>
              <a:t>10/26/2026</a:t>
            </a:fld>
            <a:endParaRPr lang="en-US"/>
          </a:p>
        </p:txBody>
      </p:sp>
      <p:sp>
        <p:nvSpPr>
          <p:cNvPr id="8" name="Footer Placeholder 7">
            <a:extLst>
              <a:ext uri="{FF2B5EF4-FFF2-40B4-BE49-F238E27FC236}">
                <a16:creationId xmlns:a16="http://schemas.microsoft.com/office/drawing/2014/main" id="{3B88FCC3-5FC8-1568-F5DB-F1523611BC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ED4C7C-27E3-D9E0-AFBF-4C23910D3118}"/>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067584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AA7FE-916C-704F-5E08-E80D10FA6C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1885B5-61D0-B799-E625-50BF8A416991}"/>
              </a:ext>
            </a:extLst>
          </p:cNvPr>
          <p:cNvSpPr>
            <a:spLocks noGrp="1"/>
          </p:cNvSpPr>
          <p:nvPr>
            <p:ph type="dt" sz="half" idx="10"/>
          </p:nvPr>
        </p:nvSpPr>
        <p:spPr/>
        <p:txBody>
          <a:bodyPr/>
          <a:lstStyle/>
          <a:p>
            <a:fld id="{399F7520-E07E-4FCB-AB6E-CD545857A848}" type="datetimeFigureOut">
              <a:rPr lang="en-US" smtClean="0"/>
              <a:t>10/26/2026</a:t>
            </a:fld>
            <a:endParaRPr lang="en-US"/>
          </a:p>
        </p:txBody>
      </p:sp>
      <p:sp>
        <p:nvSpPr>
          <p:cNvPr id="4" name="Footer Placeholder 3">
            <a:extLst>
              <a:ext uri="{FF2B5EF4-FFF2-40B4-BE49-F238E27FC236}">
                <a16:creationId xmlns:a16="http://schemas.microsoft.com/office/drawing/2014/main" id="{DA131F41-D05A-BCAE-941B-CF4B2C5106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BC6824-F432-4AD3-7F5C-049E145A0B2C}"/>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901145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49DB48-A4B2-19B7-ADDB-04AA84E7D1F3}"/>
              </a:ext>
            </a:extLst>
          </p:cNvPr>
          <p:cNvSpPr>
            <a:spLocks noGrp="1"/>
          </p:cNvSpPr>
          <p:nvPr>
            <p:ph type="dt" sz="half" idx="10"/>
          </p:nvPr>
        </p:nvSpPr>
        <p:spPr/>
        <p:txBody>
          <a:bodyPr/>
          <a:lstStyle/>
          <a:p>
            <a:fld id="{399F7520-E07E-4FCB-AB6E-CD545857A848}" type="datetimeFigureOut">
              <a:rPr lang="en-US" smtClean="0"/>
              <a:t>10/26/2026</a:t>
            </a:fld>
            <a:endParaRPr lang="en-US"/>
          </a:p>
        </p:txBody>
      </p:sp>
      <p:sp>
        <p:nvSpPr>
          <p:cNvPr id="3" name="Footer Placeholder 2">
            <a:extLst>
              <a:ext uri="{FF2B5EF4-FFF2-40B4-BE49-F238E27FC236}">
                <a16:creationId xmlns:a16="http://schemas.microsoft.com/office/drawing/2014/main" id="{799F3F26-AFBA-2B34-A6ED-4069C74462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83FB28-DC94-355F-C0F5-A441EDA232B5}"/>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672559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52CC9-1082-1D67-6B8A-54EE1B08A7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614A66-D44F-A73F-F29F-F5A58CAD71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0CF7AF-C52C-C2FD-9D15-668738CFFB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BF744F-F3B3-2203-DCA4-0D7949A7FF52}"/>
              </a:ext>
            </a:extLst>
          </p:cNvPr>
          <p:cNvSpPr>
            <a:spLocks noGrp="1"/>
          </p:cNvSpPr>
          <p:nvPr>
            <p:ph type="dt" sz="half" idx="10"/>
          </p:nvPr>
        </p:nvSpPr>
        <p:spPr/>
        <p:txBody>
          <a:bodyPr/>
          <a:lstStyle/>
          <a:p>
            <a:fld id="{399F7520-E07E-4FCB-AB6E-CD545857A848}" type="datetimeFigureOut">
              <a:rPr lang="en-US" smtClean="0"/>
              <a:t>10/26/2026</a:t>
            </a:fld>
            <a:endParaRPr lang="en-US"/>
          </a:p>
        </p:txBody>
      </p:sp>
      <p:sp>
        <p:nvSpPr>
          <p:cNvPr id="6" name="Footer Placeholder 5">
            <a:extLst>
              <a:ext uri="{FF2B5EF4-FFF2-40B4-BE49-F238E27FC236}">
                <a16:creationId xmlns:a16="http://schemas.microsoft.com/office/drawing/2014/main" id="{63E1683B-B92B-E505-D15D-7A266D39F2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2F1F61-2978-D21B-F129-15ED892864C7}"/>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1061166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C1A08-29C7-BA7C-253A-369FB3951B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9BEC59-20D6-F277-2301-F1FF895D31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2241A7-243C-A3FD-9700-91E11E5564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3ACB7-0ED4-2286-18D9-5584A1FB4762}"/>
              </a:ext>
            </a:extLst>
          </p:cNvPr>
          <p:cNvSpPr>
            <a:spLocks noGrp="1"/>
          </p:cNvSpPr>
          <p:nvPr>
            <p:ph type="dt" sz="half" idx="10"/>
          </p:nvPr>
        </p:nvSpPr>
        <p:spPr/>
        <p:txBody>
          <a:bodyPr/>
          <a:lstStyle/>
          <a:p>
            <a:fld id="{399F7520-E07E-4FCB-AB6E-CD545857A848}" type="datetimeFigureOut">
              <a:rPr lang="en-US" smtClean="0"/>
              <a:t>10/26/2026</a:t>
            </a:fld>
            <a:endParaRPr lang="en-US"/>
          </a:p>
        </p:txBody>
      </p:sp>
      <p:sp>
        <p:nvSpPr>
          <p:cNvPr id="6" name="Footer Placeholder 5">
            <a:extLst>
              <a:ext uri="{FF2B5EF4-FFF2-40B4-BE49-F238E27FC236}">
                <a16:creationId xmlns:a16="http://schemas.microsoft.com/office/drawing/2014/main" id="{C6294071-C18A-0C44-6FCF-4D8394AB6E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EB9164-AEA0-1018-652E-D60427C9BBBA}"/>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1130209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4588-61CE-87E4-94E4-830492D9C6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6370F2-9EBA-A42F-A998-A9F718FE5F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B84D4B-FFFF-50F6-1E82-90B9FD86BFB3}"/>
              </a:ext>
            </a:extLst>
          </p:cNvPr>
          <p:cNvSpPr>
            <a:spLocks noGrp="1"/>
          </p:cNvSpPr>
          <p:nvPr>
            <p:ph type="dt" sz="half" idx="10"/>
          </p:nvPr>
        </p:nvSpPr>
        <p:spPr/>
        <p:txBody>
          <a:bodyPr/>
          <a:lstStyle/>
          <a:p>
            <a:fld id="{399F7520-E07E-4FCB-AB6E-CD545857A848}" type="datetimeFigureOut">
              <a:rPr lang="en-US" smtClean="0"/>
              <a:t>10/26/2026</a:t>
            </a:fld>
            <a:endParaRPr lang="en-US"/>
          </a:p>
        </p:txBody>
      </p:sp>
      <p:sp>
        <p:nvSpPr>
          <p:cNvPr id="5" name="Footer Placeholder 4">
            <a:extLst>
              <a:ext uri="{FF2B5EF4-FFF2-40B4-BE49-F238E27FC236}">
                <a16:creationId xmlns:a16="http://schemas.microsoft.com/office/drawing/2014/main" id="{CCA13780-6027-0CB6-AB48-A49DFF61A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21AAB-24D1-E4C1-93A8-21A6A3FEA81B}"/>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2008406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22E390-6C11-28C3-6589-8D5AAE6153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FB9591-7270-CBF1-9D86-B702F93C34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42E441-86C6-0918-C712-CE208D413548}"/>
              </a:ext>
            </a:extLst>
          </p:cNvPr>
          <p:cNvSpPr>
            <a:spLocks noGrp="1"/>
          </p:cNvSpPr>
          <p:nvPr>
            <p:ph type="dt" sz="half" idx="10"/>
          </p:nvPr>
        </p:nvSpPr>
        <p:spPr/>
        <p:txBody>
          <a:bodyPr/>
          <a:lstStyle/>
          <a:p>
            <a:fld id="{399F7520-E07E-4FCB-AB6E-CD545857A848}" type="datetimeFigureOut">
              <a:rPr lang="en-US" smtClean="0"/>
              <a:t>10/26/2026</a:t>
            </a:fld>
            <a:endParaRPr lang="en-US"/>
          </a:p>
        </p:txBody>
      </p:sp>
      <p:sp>
        <p:nvSpPr>
          <p:cNvPr id="5" name="Footer Placeholder 4">
            <a:extLst>
              <a:ext uri="{FF2B5EF4-FFF2-40B4-BE49-F238E27FC236}">
                <a16:creationId xmlns:a16="http://schemas.microsoft.com/office/drawing/2014/main" id="{F3DD3169-119F-404B-2227-24BAD649F6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770133-7645-91BA-2C3F-0CF5E1430A98}"/>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1990941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41B4F6-516A-C614-3D06-AA8A2E9883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5EB82C-164F-6C47-7EC1-82DF5D0721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73BDA5-FACF-51FE-DF8F-A5A1D658E9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9F7520-E07E-4FCB-AB6E-CD545857A848}" type="datetimeFigureOut">
              <a:rPr lang="en-US" smtClean="0"/>
              <a:t>10/26/2026</a:t>
            </a:fld>
            <a:endParaRPr lang="en-US"/>
          </a:p>
        </p:txBody>
      </p:sp>
      <p:sp>
        <p:nvSpPr>
          <p:cNvPr id="5" name="Footer Placeholder 4">
            <a:extLst>
              <a:ext uri="{FF2B5EF4-FFF2-40B4-BE49-F238E27FC236}">
                <a16:creationId xmlns:a16="http://schemas.microsoft.com/office/drawing/2014/main" id="{85C3165D-432B-B8C8-55DB-E0D5A7C5D6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2D72358-A16B-76D1-CA30-3C24A8E20D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A918B-6B61-42FB-B3D8-F4A40E4B3044}" type="slidenum">
              <a:rPr lang="en-US" smtClean="0"/>
              <a:t>‹#›</a:t>
            </a:fld>
            <a:endParaRPr lang="en-US"/>
          </a:p>
        </p:txBody>
      </p:sp>
    </p:spTree>
    <p:extLst>
      <p:ext uri="{BB962C8B-B14F-4D97-AF65-F5344CB8AC3E}">
        <p14:creationId xmlns:p14="http://schemas.microsoft.com/office/powerpoint/2010/main" val="2722524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lab.com/nsnam/ns-3-dev.gi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C0DCD-CF09-FA6C-D638-BC9EEDD2D76E}"/>
              </a:ext>
            </a:extLst>
          </p:cNvPr>
          <p:cNvSpPr>
            <a:spLocks noGrp="1"/>
          </p:cNvSpPr>
          <p:nvPr>
            <p:ph type="ctrTitle"/>
          </p:nvPr>
        </p:nvSpPr>
        <p:spPr>
          <a:xfrm>
            <a:off x="1524000" y="843834"/>
            <a:ext cx="9144000" cy="2387600"/>
          </a:xfrm>
        </p:spPr>
        <p:txBody>
          <a:bodyPr>
            <a:normAutofit/>
          </a:bodyPr>
          <a:lstStyle/>
          <a:p>
            <a:r>
              <a:rPr lang="en-US" dirty="0"/>
              <a:t>ns-3 setup and Traffic Model </a:t>
            </a:r>
            <a:br>
              <a:rPr lang="en-US" dirty="0"/>
            </a:br>
            <a:r>
              <a:rPr lang="en-US" dirty="0"/>
              <a:t> &amp; System Architecture</a:t>
            </a:r>
          </a:p>
        </p:txBody>
      </p:sp>
      <p:sp>
        <p:nvSpPr>
          <p:cNvPr id="3" name="Subtitle 2">
            <a:extLst>
              <a:ext uri="{FF2B5EF4-FFF2-40B4-BE49-F238E27FC236}">
                <a16:creationId xmlns:a16="http://schemas.microsoft.com/office/drawing/2014/main" id="{A2ADD5F7-1618-54E1-DBC7-14E263A0BD74}"/>
              </a:ext>
            </a:extLst>
          </p:cNvPr>
          <p:cNvSpPr>
            <a:spLocks noGrp="1"/>
          </p:cNvSpPr>
          <p:nvPr>
            <p:ph type="subTitle" idx="1"/>
          </p:nvPr>
        </p:nvSpPr>
        <p:spPr>
          <a:xfrm>
            <a:off x="1313662" y="3626566"/>
            <a:ext cx="9144000" cy="2287485"/>
          </a:xfrm>
        </p:spPr>
        <p:txBody>
          <a:bodyPr>
            <a:normAutofit/>
          </a:bodyPr>
          <a:lstStyle/>
          <a:p>
            <a:pPr>
              <a:spcBef>
                <a:spcPts val="0"/>
              </a:spcBef>
            </a:pPr>
            <a:r>
              <a:rPr lang="en-US" b="1" dirty="0"/>
              <a:t>Name : Rahmat Munir Hasan (M11302828)</a:t>
            </a:r>
          </a:p>
          <a:p>
            <a:pPr>
              <a:spcBef>
                <a:spcPts val="0"/>
              </a:spcBef>
            </a:pPr>
            <a:r>
              <a:rPr lang="en-US" b="1" dirty="0"/>
              <a:t>Reference : </a:t>
            </a:r>
            <a:br>
              <a:rPr lang="en-US" sz="1800" dirty="0"/>
            </a:br>
            <a:r>
              <a:rPr lang="en-US" sz="1800" dirty="0" err="1"/>
              <a:t>Chatgpt</a:t>
            </a:r>
            <a:r>
              <a:rPr lang="en-US" sz="1800" dirty="0"/>
              <a:t> </a:t>
            </a:r>
            <a:br>
              <a:rPr lang="en-US" dirty="0"/>
            </a:br>
            <a:endParaRPr lang="en-US" dirty="0"/>
          </a:p>
        </p:txBody>
      </p:sp>
      <p:sp>
        <p:nvSpPr>
          <p:cNvPr id="6" name="Title 1">
            <a:extLst>
              <a:ext uri="{FF2B5EF4-FFF2-40B4-BE49-F238E27FC236}">
                <a16:creationId xmlns:a16="http://schemas.microsoft.com/office/drawing/2014/main" id="{FC4CF315-B753-3B48-5C94-FC430B5E1AC4}"/>
              </a:ext>
            </a:extLst>
          </p:cNvPr>
          <p:cNvSpPr txBox="1">
            <a:spLocks/>
          </p:cNvSpPr>
          <p:nvPr/>
        </p:nvSpPr>
        <p:spPr>
          <a:xfrm>
            <a:off x="1524000" y="-1265237"/>
            <a:ext cx="9144000" cy="2387600"/>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Assignment 2: </a:t>
            </a:r>
          </a:p>
        </p:txBody>
      </p:sp>
    </p:spTree>
    <p:extLst>
      <p:ext uri="{BB962C8B-B14F-4D97-AF65-F5344CB8AC3E}">
        <p14:creationId xmlns:p14="http://schemas.microsoft.com/office/powerpoint/2010/main" val="392901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326923" y="89822"/>
            <a:ext cx="10515600" cy="1325563"/>
          </a:xfrm>
        </p:spPr>
        <p:txBody>
          <a:bodyPr/>
          <a:lstStyle/>
          <a:p>
            <a:r>
              <a:rPr lang="en-US" b="1" i="0" dirty="0">
                <a:effectLst/>
                <a:latin typeface="Mona Sans VF"/>
              </a:rPr>
              <a:t> </a:t>
            </a:r>
            <a:r>
              <a:rPr lang="en-US" i="0" dirty="0">
                <a:effectLst/>
                <a:latin typeface="Mona Sans VF"/>
              </a:rPr>
              <a:t>1</a:t>
            </a:r>
            <a:r>
              <a:rPr lang="en-US" b="1" i="0" dirty="0">
                <a:effectLst/>
                <a:latin typeface="Mona Sans VF"/>
              </a:rPr>
              <a:t>. </a:t>
            </a:r>
            <a:r>
              <a:rPr lang="en-US" b="1" dirty="0"/>
              <a:t>ns-3 setup and install </a:t>
            </a:r>
          </a:p>
        </p:txBody>
      </p:sp>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395749" y="1253330"/>
            <a:ext cx="10931012" cy="5514847"/>
          </a:xfrm>
        </p:spPr>
        <p:txBody>
          <a:bodyPr>
            <a:normAutofit/>
          </a:bodyPr>
          <a:lstStyle/>
          <a:p>
            <a:pPr marL="0" indent="0" algn="just">
              <a:buNone/>
            </a:pPr>
            <a:r>
              <a:rPr lang="en-US" b="0" i="0" dirty="0">
                <a:effectLst/>
                <a:latin typeface="Mona Sans VF"/>
              </a:rPr>
              <a:t>$ git clone </a:t>
            </a:r>
            <a:r>
              <a:rPr lang="en-US" b="0" i="0" dirty="0">
                <a:effectLst/>
                <a:latin typeface="Mona Sans VF"/>
                <a:hlinkClick r:id="rId2"/>
              </a:rPr>
              <a:t>https://gitlab.com/nsnam/ns-3-dev.git</a:t>
            </a:r>
            <a:endParaRPr lang="en-US" b="0" i="0" dirty="0">
              <a:effectLst/>
              <a:latin typeface="Mona Sans VF"/>
            </a:endParaRPr>
          </a:p>
          <a:p>
            <a:pPr marL="0" indent="0" algn="just">
              <a:buNone/>
            </a:pPr>
            <a:r>
              <a:rPr lang="en-US" dirty="0">
                <a:latin typeface="Mona Sans VF"/>
              </a:rPr>
              <a:t>$ cd ns-3-dev</a:t>
            </a:r>
          </a:p>
          <a:p>
            <a:pPr marL="0" indent="0" algn="just">
              <a:buNone/>
            </a:pPr>
            <a:r>
              <a:rPr lang="en-US" dirty="0">
                <a:latin typeface="Mona Sans VF"/>
              </a:rPr>
              <a:t>$ git checkout -b ns-3.45-branch ns-3.45</a:t>
            </a:r>
          </a:p>
          <a:p>
            <a:pPr marL="0" indent="0" algn="just">
              <a:buNone/>
            </a:pPr>
            <a:r>
              <a:rPr lang="en-US" dirty="0">
                <a:latin typeface="Mona Sans VF"/>
              </a:rPr>
              <a:t>$ ./ns3 configure --enable-examples --enable-tests</a:t>
            </a:r>
          </a:p>
          <a:p>
            <a:pPr marL="0" indent="0" algn="just">
              <a:buNone/>
            </a:pPr>
            <a:r>
              <a:rPr lang="en-US" dirty="0">
                <a:latin typeface="Mona Sans VF"/>
              </a:rPr>
              <a:t>$ ./ns3 build</a:t>
            </a:r>
          </a:p>
          <a:p>
            <a:pPr marL="0" indent="0" algn="just">
              <a:buNone/>
            </a:pPr>
            <a:endParaRPr lang="en-US" dirty="0">
              <a:latin typeface="Mona Sans VF"/>
            </a:endParaRPr>
          </a:p>
          <a:p>
            <a:pPr marL="0" indent="0" algn="just">
              <a:buNone/>
            </a:pPr>
            <a:r>
              <a:rPr lang="en-US" dirty="0">
                <a:latin typeface="Mona Sans VF"/>
              </a:rPr>
              <a:t>$ </a:t>
            </a:r>
            <a:r>
              <a:rPr lang="en-US" dirty="0" err="1">
                <a:latin typeface="Mona Sans VF"/>
              </a:rPr>
              <a:t>sudo</a:t>
            </a:r>
            <a:r>
              <a:rPr lang="en-US" dirty="0">
                <a:latin typeface="Mona Sans VF"/>
              </a:rPr>
              <a:t> apt update</a:t>
            </a:r>
          </a:p>
          <a:p>
            <a:pPr marL="0" indent="0" algn="just">
              <a:buNone/>
            </a:pPr>
            <a:r>
              <a:rPr lang="en-US" dirty="0">
                <a:latin typeface="Mona Sans VF"/>
              </a:rPr>
              <a:t>$ </a:t>
            </a:r>
            <a:r>
              <a:rPr lang="en-US" dirty="0" err="1">
                <a:latin typeface="Mona Sans VF"/>
              </a:rPr>
              <a:t>sudo</a:t>
            </a:r>
            <a:r>
              <a:rPr lang="en-US" dirty="0">
                <a:latin typeface="Mona Sans VF"/>
              </a:rPr>
              <a:t> apt install </a:t>
            </a:r>
            <a:r>
              <a:rPr lang="en-US" dirty="0" err="1">
                <a:latin typeface="Mona Sans VF"/>
              </a:rPr>
              <a:t>wireshark</a:t>
            </a:r>
            <a:endParaRPr lang="en-US" dirty="0">
              <a:latin typeface="Mona Sans VF"/>
            </a:endParaRPr>
          </a:p>
          <a:p>
            <a:pPr marL="0" indent="0" algn="just">
              <a:buNone/>
            </a:pPr>
            <a:r>
              <a:rPr lang="en-US" dirty="0">
                <a:latin typeface="Mona Sans VF"/>
              </a:rPr>
              <a:t>$ </a:t>
            </a:r>
            <a:r>
              <a:rPr lang="en-US" dirty="0" err="1">
                <a:latin typeface="Mona Sans VF"/>
              </a:rPr>
              <a:t>sudo</a:t>
            </a:r>
            <a:r>
              <a:rPr lang="en-US" dirty="0">
                <a:latin typeface="Mona Sans VF"/>
              </a:rPr>
              <a:t> </a:t>
            </a:r>
            <a:r>
              <a:rPr lang="en-US" dirty="0" err="1">
                <a:latin typeface="Mona Sans VF"/>
              </a:rPr>
              <a:t>usermod</a:t>
            </a:r>
            <a:r>
              <a:rPr lang="en-US" dirty="0">
                <a:latin typeface="Mona Sans VF"/>
              </a:rPr>
              <a:t> -</a:t>
            </a:r>
            <a:r>
              <a:rPr lang="en-US" dirty="0" err="1">
                <a:latin typeface="Mona Sans VF"/>
              </a:rPr>
              <a:t>aG</a:t>
            </a:r>
            <a:r>
              <a:rPr lang="en-US" dirty="0">
                <a:latin typeface="Mona Sans VF"/>
              </a:rPr>
              <a:t> </a:t>
            </a:r>
            <a:r>
              <a:rPr lang="en-US" dirty="0" err="1">
                <a:latin typeface="Mona Sans VF"/>
              </a:rPr>
              <a:t>wireshark</a:t>
            </a:r>
            <a:r>
              <a:rPr lang="en-US" dirty="0">
                <a:latin typeface="Mona Sans VF"/>
              </a:rPr>
              <a:t> $USER</a:t>
            </a:r>
          </a:p>
          <a:p>
            <a:pPr marL="0" indent="0" algn="just">
              <a:buNone/>
            </a:pPr>
            <a:endParaRPr lang="en-US" dirty="0">
              <a:latin typeface="Mona Sans VF"/>
            </a:endParaRPr>
          </a:p>
        </p:txBody>
      </p:sp>
    </p:spTree>
    <p:extLst>
      <p:ext uri="{BB962C8B-B14F-4D97-AF65-F5344CB8AC3E}">
        <p14:creationId xmlns:p14="http://schemas.microsoft.com/office/powerpoint/2010/main" val="2564336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81BDEBE-0DD9-810B-2BF9-51FB98687095}"/>
              </a:ext>
            </a:extLst>
          </p:cNvPr>
          <p:cNvSpPr txBox="1">
            <a:spLocks/>
          </p:cNvSpPr>
          <p:nvPr/>
        </p:nvSpPr>
        <p:spPr>
          <a:xfrm>
            <a:off x="276533" y="159928"/>
            <a:ext cx="10892912" cy="654567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2400" dirty="0">
                <a:latin typeface="Mona Sans VF"/>
              </a:rPr>
              <a:t>$ ./ns3 run "scratch/traffic-gaussian \</a:t>
            </a:r>
          </a:p>
          <a:p>
            <a:pPr marL="0" indent="0" algn="just">
              <a:buFont typeface="Arial" panose="020B0604020202020204" pitchFamily="34" charset="0"/>
              <a:buNone/>
            </a:pPr>
            <a:r>
              <a:rPr lang="en-US" sz="2400" dirty="0">
                <a:latin typeface="Mona Sans VF"/>
              </a:rPr>
              <a:t>  --packets=1000 \</a:t>
            </a:r>
          </a:p>
          <a:p>
            <a:pPr marL="0" indent="0" algn="just">
              <a:buFont typeface="Arial" panose="020B0604020202020204" pitchFamily="34" charset="0"/>
              <a:buNone/>
            </a:pPr>
            <a:r>
              <a:rPr lang="en-US" sz="2400" dirty="0">
                <a:latin typeface="Mona Sans VF"/>
              </a:rPr>
              <a:t>  --</a:t>
            </a:r>
            <a:r>
              <a:rPr lang="en-US" sz="2400" dirty="0" err="1">
                <a:latin typeface="Mona Sans VF"/>
              </a:rPr>
              <a:t>payloadBytes</a:t>
            </a:r>
            <a:r>
              <a:rPr lang="en-US" sz="2400" dirty="0">
                <a:latin typeface="Mona Sans VF"/>
              </a:rPr>
              <a:t>=512 \</a:t>
            </a:r>
          </a:p>
          <a:p>
            <a:pPr marL="0" indent="0" algn="just">
              <a:buFont typeface="Arial" panose="020B0604020202020204" pitchFamily="34" charset="0"/>
              <a:buNone/>
            </a:pPr>
            <a:r>
              <a:rPr lang="en-US" sz="2400" dirty="0">
                <a:latin typeface="Mona Sans VF"/>
              </a:rPr>
              <a:t>  --</a:t>
            </a:r>
            <a:r>
              <a:rPr lang="en-US" sz="2400" dirty="0" err="1">
                <a:latin typeface="Mona Sans VF"/>
              </a:rPr>
              <a:t>meanIat</a:t>
            </a:r>
            <a:r>
              <a:rPr lang="en-US" sz="2400" dirty="0">
                <a:latin typeface="Mona Sans VF"/>
              </a:rPr>
              <a:t>=0.030 \</a:t>
            </a:r>
          </a:p>
          <a:p>
            <a:pPr marL="0" indent="0" algn="just">
              <a:buFont typeface="Arial" panose="020B0604020202020204" pitchFamily="34" charset="0"/>
              <a:buNone/>
            </a:pPr>
            <a:r>
              <a:rPr lang="en-US" sz="2400" dirty="0">
                <a:latin typeface="Mona Sans VF"/>
              </a:rPr>
              <a:t>  --</a:t>
            </a:r>
            <a:r>
              <a:rPr lang="en-US" sz="2400" dirty="0" err="1">
                <a:latin typeface="Mona Sans VF"/>
              </a:rPr>
              <a:t>stdIat</a:t>
            </a:r>
            <a:r>
              <a:rPr lang="en-US" sz="2400" dirty="0">
                <a:latin typeface="Mona Sans VF"/>
              </a:rPr>
              <a:t>=0.010 \</a:t>
            </a:r>
          </a:p>
          <a:p>
            <a:pPr marL="0" indent="0" algn="just">
              <a:buFont typeface="Arial" panose="020B0604020202020204" pitchFamily="34" charset="0"/>
              <a:buNone/>
            </a:pPr>
            <a:r>
              <a:rPr lang="en-US" sz="2400" dirty="0">
                <a:latin typeface="Mona Sans VF"/>
              </a:rPr>
              <a:t>  --</a:t>
            </a:r>
            <a:r>
              <a:rPr lang="en-US" sz="2400" dirty="0" err="1">
                <a:latin typeface="Mona Sans VF"/>
              </a:rPr>
              <a:t>minIat</a:t>
            </a:r>
            <a:r>
              <a:rPr lang="en-US" sz="2400" dirty="0">
                <a:latin typeface="Mona Sans VF"/>
              </a:rPr>
              <a:t>=0.005 \</a:t>
            </a:r>
          </a:p>
          <a:p>
            <a:pPr marL="0" indent="0" algn="just">
              <a:buFont typeface="Arial" panose="020B0604020202020204" pitchFamily="34" charset="0"/>
              <a:buNone/>
            </a:pPr>
            <a:r>
              <a:rPr lang="en-US" sz="2400" dirty="0">
                <a:latin typeface="Mona Sans VF"/>
              </a:rPr>
              <a:t>  --</a:t>
            </a:r>
            <a:r>
              <a:rPr lang="en-US" sz="2400" dirty="0" err="1">
                <a:latin typeface="Mona Sans VF"/>
              </a:rPr>
              <a:t>maxIat</a:t>
            </a:r>
            <a:r>
              <a:rPr lang="en-US" sz="2400" dirty="0">
                <a:latin typeface="Mona Sans VF"/>
              </a:rPr>
              <a:t>=0.080 \</a:t>
            </a:r>
          </a:p>
          <a:p>
            <a:pPr marL="0" indent="0" algn="just">
              <a:buFont typeface="Arial" panose="020B0604020202020204" pitchFamily="34" charset="0"/>
              <a:buNone/>
            </a:pPr>
            <a:r>
              <a:rPr lang="en-US" sz="2400" dirty="0">
                <a:latin typeface="Mona Sans VF"/>
              </a:rPr>
              <a:t>  --</a:t>
            </a:r>
            <a:r>
              <a:rPr lang="en-US" sz="2400" dirty="0" err="1">
                <a:latin typeface="Mona Sans VF"/>
              </a:rPr>
              <a:t>simStop</a:t>
            </a:r>
            <a:r>
              <a:rPr lang="en-US" sz="2400" dirty="0">
                <a:latin typeface="Mona Sans VF"/>
              </a:rPr>
              <a:t>=45 \</a:t>
            </a:r>
          </a:p>
          <a:p>
            <a:pPr marL="0" indent="0" algn="just">
              <a:buFont typeface="Arial" panose="020B0604020202020204" pitchFamily="34" charset="0"/>
              <a:buNone/>
            </a:pPr>
            <a:r>
              <a:rPr lang="en-US" sz="2400" dirty="0">
                <a:latin typeface="Mona Sans VF"/>
              </a:rPr>
              <a:t>  --prefix=traffic“</a:t>
            </a:r>
          </a:p>
          <a:p>
            <a:pPr marL="0" indent="0" algn="just">
              <a:buFont typeface="Arial" panose="020B0604020202020204" pitchFamily="34" charset="0"/>
              <a:buNone/>
            </a:pPr>
            <a:r>
              <a:rPr lang="en-US" sz="2400" dirty="0">
                <a:latin typeface="Mona Sans VF"/>
              </a:rPr>
              <a:t>$ python3 analysis/analyze_interarrival.py \</a:t>
            </a:r>
          </a:p>
          <a:p>
            <a:pPr marL="0" indent="0" algn="just">
              <a:buFont typeface="Arial" panose="020B0604020202020204" pitchFamily="34" charset="0"/>
              <a:buNone/>
            </a:pPr>
            <a:r>
              <a:rPr lang="en-US" sz="2400" dirty="0">
                <a:latin typeface="Mona Sans VF"/>
              </a:rPr>
              <a:t>  --</a:t>
            </a:r>
            <a:r>
              <a:rPr lang="en-US" sz="2400" dirty="0" err="1">
                <a:latin typeface="Mona Sans VF"/>
              </a:rPr>
              <a:t>pcap</a:t>
            </a:r>
            <a:r>
              <a:rPr lang="en-US" sz="2400" dirty="0">
                <a:latin typeface="Mona Sans VF"/>
              </a:rPr>
              <a:t> traffic-0-0.pcap \</a:t>
            </a:r>
          </a:p>
          <a:p>
            <a:pPr marL="0" indent="0" algn="just">
              <a:buFont typeface="Arial" panose="020B0604020202020204" pitchFamily="34" charset="0"/>
              <a:buNone/>
            </a:pPr>
            <a:r>
              <a:rPr lang="en-US" sz="2400" dirty="0">
                <a:latin typeface="Mona Sans VF"/>
              </a:rPr>
              <a:t>  --out results</a:t>
            </a:r>
          </a:p>
          <a:p>
            <a:pPr marL="0" indent="0" algn="just">
              <a:buFont typeface="Arial" panose="020B0604020202020204" pitchFamily="34" charset="0"/>
              <a:buNone/>
            </a:pPr>
            <a:r>
              <a:rPr lang="en-US" sz="2400" dirty="0">
                <a:latin typeface="Mona Sans VF"/>
              </a:rPr>
              <a:t>$ python3 analysis/packet_size_density_pdf_cdf.py \</a:t>
            </a:r>
          </a:p>
          <a:p>
            <a:pPr marL="0" indent="0" algn="just">
              <a:buFont typeface="Arial" panose="020B0604020202020204" pitchFamily="34" charset="0"/>
              <a:buNone/>
            </a:pPr>
            <a:r>
              <a:rPr lang="en-US" sz="2400" dirty="0">
                <a:latin typeface="Mona Sans VF"/>
              </a:rPr>
              <a:t>  --</a:t>
            </a:r>
            <a:r>
              <a:rPr lang="en-US" sz="2400" dirty="0" err="1">
                <a:latin typeface="Mona Sans VF"/>
              </a:rPr>
              <a:t>pcap</a:t>
            </a:r>
            <a:r>
              <a:rPr lang="en-US" sz="2400" dirty="0">
                <a:latin typeface="Mona Sans VF"/>
              </a:rPr>
              <a:t> traffic-0-0.pcap \</a:t>
            </a:r>
          </a:p>
          <a:p>
            <a:pPr marL="0" indent="0" algn="just">
              <a:buFont typeface="Arial" panose="020B0604020202020204" pitchFamily="34" charset="0"/>
              <a:buNone/>
            </a:pPr>
            <a:r>
              <a:rPr lang="en-US" sz="2400" dirty="0">
                <a:latin typeface="Mona Sans VF"/>
              </a:rPr>
              <a:t>  --out results2 \</a:t>
            </a:r>
          </a:p>
          <a:p>
            <a:pPr marL="0" indent="0" algn="just">
              <a:buFont typeface="Arial" panose="020B0604020202020204" pitchFamily="34" charset="0"/>
              <a:buNone/>
            </a:pPr>
            <a:r>
              <a:rPr lang="en-US" sz="2400" dirty="0">
                <a:latin typeface="Mona Sans VF"/>
              </a:rPr>
              <a:t>  --</a:t>
            </a:r>
            <a:r>
              <a:rPr lang="en-US" sz="2400" dirty="0" err="1">
                <a:latin typeface="Mona Sans VF"/>
              </a:rPr>
              <a:t>kde</a:t>
            </a:r>
            <a:endParaRPr lang="en-US" sz="2400" dirty="0">
              <a:latin typeface="Mona Sans VF"/>
            </a:endParaRPr>
          </a:p>
        </p:txBody>
      </p:sp>
    </p:spTree>
    <p:extLst>
      <p:ext uri="{BB962C8B-B14F-4D97-AF65-F5344CB8AC3E}">
        <p14:creationId xmlns:p14="http://schemas.microsoft.com/office/powerpoint/2010/main" val="1333976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326923" y="89822"/>
            <a:ext cx="10515600" cy="1325563"/>
          </a:xfrm>
        </p:spPr>
        <p:txBody>
          <a:bodyPr/>
          <a:lstStyle/>
          <a:p>
            <a:r>
              <a:rPr lang="en-US" b="1" i="0" dirty="0">
                <a:effectLst/>
                <a:latin typeface="Mona Sans VF"/>
              </a:rPr>
              <a:t>2. </a:t>
            </a:r>
            <a:r>
              <a:rPr lang="en-US" b="1" dirty="0">
                <a:latin typeface="Mona Sans VF"/>
              </a:rPr>
              <a:t>Traffic Model </a:t>
            </a:r>
            <a:endParaRPr lang="en-US" dirty="0"/>
          </a:p>
        </p:txBody>
      </p:sp>
      <p:pic>
        <p:nvPicPr>
          <p:cNvPr id="8" name="Picture 7">
            <a:extLst>
              <a:ext uri="{FF2B5EF4-FFF2-40B4-BE49-F238E27FC236}">
                <a16:creationId xmlns:a16="http://schemas.microsoft.com/office/drawing/2014/main" id="{F5C6281F-5363-2B62-97D9-34B5FFA762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8532" y="1415385"/>
            <a:ext cx="9574935" cy="4641286"/>
          </a:xfrm>
          <a:prstGeom prst="rect">
            <a:avLst/>
          </a:prstGeom>
        </p:spPr>
      </p:pic>
    </p:spTree>
    <p:extLst>
      <p:ext uri="{BB962C8B-B14F-4D97-AF65-F5344CB8AC3E}">
        <p14:creationId xmlns:p14="http://schemas.microsoft.com/office/powerpoint/2010/main" val="2064547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7AA6ED3-DAAB-3B9C-C057-2ED46EAD6C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5145" y="1169579"/>
            <a:ext cx="9721710" cy="4975583"/>
          </a:xfrm>
          <a:prstGeom prst="rect">
            <a:avLst/>
          </a:prstGeom>
        </p:spPr>
      </p:pic>
    </p:spTree>
    <p:extLst>
      <p:ext uri="{BB962C8B-B14F-4D97-AF65-F5344CB8AC3E}">
        <p14:creationId xmlns:p14="http://schemas.microsoft.com/office/powerpoint/2010/main" val="3858830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F5DC2DC9-D7BE-9DD8-EA7E-290AC9F59353}"/>
              </a:ext>
            </a:extLst>
          </p:cNvPr>
          <p:cNvSpPr txBox="1">
            <a:spLocks/>
          </p:cNvSpPr>
          <p:nvPr/>
        </p:nvSpPr>
        <p:spPr>
          <a:xfrm>
            <a:off x="326923" y="8982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Mona Sans VF"/>
              </a:rPr>
              <a:t>3. Wireshark Simulation </a:t>
            </a:r>
            <a:endParaRPr lang="en-US" dirty="0"/>
          </a:p>
        </p:txBody>
      </p:sp>
      <p:pic>
        <p:nvPicPr>
          <p:cNvPr id="13" name="Picture 12">
            <a:extLst>
              <a:ext uri="{FF2B5EF4-FFF2-40B4-BE49-F238E27FC236}">
                <a16:creationId xmlns:a16="http://schemas.microsoft.com/office/drawing/2014/main" id="{0E52EEE5-3EDF-8291-7ED3-6BFC13B67E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645" y="1124067"/>
            <a:ext cx="7222675" cy="5644111"/>
          </a:xfrm>
          <a:prstGeom prst="rect">
            <a:avLst/>
          </a:prstGeom>
        </p:spPr>
      </p:pic>
    </p:spTree>
    <p:extLst>
      <p:ext uri="{BB962C8B-B14F-4D97-AF65-F5344CB8AC3E}">
        <p14:creationId xmlns:p14="http://schemas.microsoft.com/office/powerpoint/2010/main" val="317560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A783252-7B01-1F0A-D5C7-D1EAF4837C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3317" y="0"/>
            <a:ext cx="3991897" cy="2993922"/>
          </a:xfrm>
          <a:prstGeom prst="rect">
            <a:avLst/>
          </a:prstGeom>
        </p:spPr>
      </p:pic>
      <p:pic>
        <p:nvPicPr>
          <p:cNvPr id="13" name="Picture 12">
            <a:extLst>
              <a:ext uri="{FF2B5EF4-FFF2-40B4-BE49-F238E27FC236}">
                <a16:creationId xmlns:a16="http://schemas.microsoft.com/office/drawing/2014/main" id="{1D9A8787-AC69-65F9-E0F4-8716ECD32A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6955" y="0"/>
            <a:ext cx="3923071" cy="2942303"/>
          </a:xfrm>
          <a:prstGeom prst="rect">
            <a:avLst/>
          </a:prstGeom>
        </p:spPr>
      </p:pic>
      <p:pic>
        <p:nvPicPr>
          <p:cNvPr id="15" name="Picture 14">
            <a:extLst>
              <a:ext uri="{FF2B5EF4-FFF2-40B4-BE49-F238E27FC236}">
                <a16:creationId xmlns:a16="http://schemas.microsoft.com/office/drawing/2014/main" id="{BC774379-A1B7-1C95-35A8-B0354A81D7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4547" y="2942303"/>
            <a:ext cx="3933028" cy="2458142"/>
          </a:xfrm>
          <a:prstGeom prst="rect">
            <a:avLst/>
          </a:prstGeom>
        </p:spPr>
      </p:pic>
      <p:pic>
        <p:nvPicPr>
          <p:cNvPr id="17" name="Picture 16">
            <a:extLst>
              <a:ext uri="{FF2B5EF4-FFF2-40B4-BE49-F238E27FC236}">
                <a16:creationId xmlns:a16="http://schemas.microsoft.com/office/drawing/2014/main" id="{26176E7D-339E-9A52-F869-30D2F3C321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4694" y="2942303"/>
            <a:ext cx="4015618" cy="2509761"/>
          </a:xfrm>
          <a:prstGeom prst="rect">
            <a:avLst/>
          </a:prstGeom>
        </p:spPr>
      </p:pic>
      <p:sp>
        <p:nvSpPr>
          <p:cNvPr id="19" name="Content Placeholder 2">
            <a:extLst>
              <a:ext uri="{FF2B5EF4-FFF2-40B4-BE49-F238E27FC236}">
                <a16:creationId xmlns:a16="http://schemas.microsoft.com/office/drawing/2014/main" id="{245E65A8-6AA9-9386-9DD1-97807118EA0E}"/>
              </a:ext>
            </a:extLst>
          </p:cNvPr>
          <p:cNvSpPr>
            <a:spLocks noGrp="1"/>
          </p:cNvSpPr>
          <p:nvPr>
            <p:ph idx="1"/>
          </p:nvPr>
        </p:nvSpPr>
        <p:spPr>
          <a:xfrm>
            <a:off x="1984547" y="5520890"/>
            <a:ext cx="10515600" cy="4351338"/>
          </a:xfrm>
        </p:spPr>
        <p:txBody>
          <a:bodyPr>
            <a:normAutofit/>
          </a:bodyPr>
          <a:lstStyle/>
          <a:p>
            <a:pPr marL="0" indent="0">
              <a:buNone/>
            </a:pPr>
            <a:r>
              <a:rPr lang="en-US" sz="1200" dirty="0"/>
              <a:t>From 4 graph the simulation demonstrates two different traffic characteristics:</a:t>
            </a:r>
          </a:p>
          <a:p>
            <a:pPr>
              <a:buFont typeface="Arial" panose="020B0604020202020204" pitchFamily="34" charset="0"/>
              <a:buChar char="•"/>
            </a:pPr>
            <a:r>
              <a:rPr lang="en-US" sz="1200" dirty="0"/>
              <a:t>Inter-arrival time (IAT): Varies and exhibits a pattern resembling a Gaussian distribution.</a:t>
            </a:r>
          </a:p>
          <a:p>
            <a:pPr>
              <a:buFont typeface="Arial" panose="020B0604020202020204" pitchFamily="34" charset="0"/>
              <a:buChar char="•"/>
            </a:pPr>
            <a:r>
              <a:rPr lang="en-US" sz="1200" dirty="0"/>
              <a:t>Packet size: Remains constant at 540 bytes, resulting in a distribution concentrated at a single value.</a:t>
            </a:r>
          </a:p>
          <a:p>
            <a:pPr marL="0" indent="0">
              <a:buNone/>
            </a:pPr>
            <a:r>
              <a:rPr lang="en-US" sz="1200" dirty="0"/>
              <a:t>Overall, these graphs indicate that the traffic generator successfully produces variations in packet arrival times while maintaining a fixed packet size.</a:t>
            </a:r>
          </a:p>
          <a:p>
            <a:pPr marL="0" indent="0" algn="just">
              <a:lnSpc>
                <a:spcPct val="170000"/>
              </a:lnSpc>
              <a:buNone/>
            </a:pPr>
            <a:endParaRPr lang="en-US" sz="1200" dirty="0">
              <a:latin typeface="Arial" panose="020B0604020202020204" pitchFamily="34" charset="0"/>
              <a:cs typeface="Arial" panose="020B0604020202020204" pitchFamily="34" charset="0"/>
            </a:endParaRPr>
          </a:p>
        </p:txBody>
      </p:sp>
      <p:sp>
        <p:nvSpPr>
          <p:cNvPr id="20" name="Title 1">
            <a:extLst>
              <a:ext uri="{FF2B5EF4-FFF2-40B4-BE49-F238E27FC236}">
                <a16:creationId xmlns:a16="http://schemas.microsoft.com/office/drawing/2014/main" id="{42E31DB7-4226-4FE6-52E3-A72EF0CD2941}"/>
              </a:ext>
            </a:extLst>
          </p:cNvPr>
          <p:cNvSpPr txBox="1">
            <a:spLocks/>
          </p:cNvSpPr>
          <p:nvPr/>
        </p:nvSpPr>
        <p:spPr>
          <a:xfrm>
            <a:off x="-68826" y="-309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Mona Sans VF"/>
              </a:rPr>
              <a:t>4. Result </a:t>
            </a:r>
            <a:endParaRPr lang="en-US" dirty="0"/>
          </a:p>
        </p:txBody>
      </p:sp>
    </p:spTree>
    <p:extLst>
      <p:ext uri="{BB962C8B-B14F-4D97-AF65-F5344CB8AC3E}">
        <p14:creationId xmlns:p14="http://schemas.microsoft.com/office/powerpoint/2010/main" val="3248285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245E65A8-6AA9-9386-9DD1-97807118EA0E}"/>
              </a:ext>
            </a:extLst>
          </p:cNvPr>
          <p:cNvSpPr>
            <a:spLocks noGrp="1"/>
          </p:cNvSpPr>
          <p:nvPr>
            <p:ph idx="1"/>
          </p:nvPr>
        </p:nvSpPr>
        <p:spPr>
          <a:xfrm>
            <a:off x="3048000" y="2141032"/>
            <a:ext cx="10515600" cy="4351338"/>
          </a:xfrm>
        </p:spPr>
        <p:txBody>
          <a:bodyPr>
            <a:normAutofit/>
          </a:bodyPr>
          <a:lstStyle/>
          <a:p>
            <a:pPr marL="0" indent="0" algn="ctr">
              <a:buNone/>
            </a:pPr>
            <a:r>
              <a:rPr lang="en-US" sz="1400" dirty="0"/>
              <a:t>We will use sample packet data from the ns-3 simulation to manually calculate the CDF, </a:t>
            </a:r>
          </a:p>
          <a:p>
            <a:pPr marL="0" indent="0" algn="ctr">
              <a:buNone/>
            </a:pPr>
            <a:r>
              <a:rPr lang="en-US" sz="1400" dirty="0"/>
              <a:t>then relate it to the CDF graph you generated earlier..</a:t>
            </a:r>
          </a:p>
          <a:p>
            <a:pPr marL="0" indent="0" algn="just">
              <a:lnSpc>
                <a:spcPct val="170000"/>
              </a:lnSpc>
              <a:buNone/>
            </a:pPr>
            <a:endParaRPr lang="en-US" sz="12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70894FA6-561A-3365-BD63-E5516EEDB3F2}"/>
              </a:ext>
            </a:extLst>
          </p:cNvPr>
          <p:cNvPicPr>
            <a:picLocks noChangeAspect="1"/>
          </p:cNvPicPr>
          <p:nvPr/>
        </p:nvPicPr>
        <p:blipFill>
          <a:blip r:embed="rId2"/>
          <a:stretch>
            <a:fillRect/>
          </a:stretch>
        </p:blipFill>
        <p:spPr>
          <a:xfrm>
            <a:off x="6668051" y="333001"/>
            <a:ext cx="1637749" cy="772682"/>
          </a:xfrm>
          <a:prstGeom prst="rect">
            <a:avLst/>
          </a:prstGeom>
        </p:spPr>
      </p:pic>
      <p:sp>
        <p:nvSpPr>
          <p:cNvPr id="4" name="Title 1">
            <a:extLst>
              <a:ext uri="{FF2B5EF4-FFF2-40B4-BE49-F238E27FC236}">
                <a16:creationId xmlns:a16="http://schemas.microsoft.com/office/drawing/2014/main" id="{C4C434EE-B057-52E1-E6C7-A0F3DD39553B}"/>
              </a:ext>
            </a:extLst>
          </p:cNvPr>
          <p:cNvSpPr txBox="1">
            <a:spLocks/>
          </p:cNvSpPr>
          <p:nvPr/>
        </p:nvSpPr>
        <p:spPr>
          <a:xfrm>
            <a:off x="117987" y="-2902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Mona Sans VF"/>
              </a:rPr>
              <a:t>CDF </a:t>
            </a:r>
            <a:r>
              <a:rPr lang="en-US" b="1" dirty="0" err="1">
                <a:latin typeface="Mona Sans VF"/>
              </a:rPr>
              <a:t>Iat</a:t>
            </a:r>
            <a:r>
              <a:rPr lang="en-US" b="1" dirty="0">
                <a:latin typeface="Mona Sans VF"/>
              </a:rPr>
              <a:t> CALCULATION </a:t>
            </a:r>
            <a:endParaRPr lang="en-US" dirty="0"/>
          </a:p>
        </p:txBody>
      </p:sp>
      <p:pic>
        <p:nvPicPr>
          <p:cNvPr id="5" name="Picture 4">
            <a:extLst>
              <a:ext uri="{FF2B5EF4-FFF2-40B4-BE49-F238E27FC236}">
                <a16:creationId xmlns:a16="http://schemas.microsoft.com/office/drawing/2014/main" id="{33AC1758-6EF0-D008-3C3A-128F3931CF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640" y="583717"/>
            <a:ext cx="3991897" cy="2993922"/>
          </a:xfrm>
          <a:prstGeom prst="rect">
            <a:avLst/>
          </a:prstGeom>
        </p:spPr>
      </p:pic>
      <p:pic>
        <p:nvPicPr>
          <p:cNvPr id="7" name="Picture 6">
            <a:extLst>
              <a:ext uri="{FF2B5EF4-FFF2-40B4-BE49-F238E27FC236}">
                <a16:creationId xmlns:a16="http://schemas.microsoft.com/office/drawing/2014/main" id="{C648A381-6710-4D0F-A0ED-2A2B2B98A26F}"/>
              </a:ext>
            </a:extLst>
          </p:cNvPr>
          <p:cNvPicPr>
            <a:picLocks noChangeAspect="1"/>
          </p:cNvPicPr>
          <p:nvPr/>
        </p:nvPicPr>
        <p:blipFill>
          <a:blip r:embed="rId4"/>
          <a:stretch>
            <a:fillRect/>
          </a:stretch>
        </p:blipFill>
        <p:spPr>
          <a:xfrm>
            <a:off x="8682121" y="333001"/>
            <a:ext cx="1897383" cy="689144"/>
          </a:xfrm>
          <a:prstGeom prst="rect">
            <a:avLst/>
          </a:prstGeom>
        </p:spPr>
      </p:pic>
      <p:sp>
        <p:nvSpPr>
          <p:cNvPr id="14" name="Content Placeholder 2">
            <a:extLst>
              <a:ext uri="{FF2B5EF4-FFF2-40B4-BE49-F238E27FC236}">
                <a16:creationId xmlns:a16="http://schemas.microsoft.com/office/drawing/2014/main" id="{47BCEF88-DE1E-3D8E-A72A-A47FF75A6EC9}"/>
              </a:ext>
            </a:extLst>
          </p:cNvPr>
          <p:cNvSpPr txBox="1">
            <a:spLocks/>
          </p:cNvSpPr>
          <p:nvPr/>
        </p:nvSpPr>
        <p:spPr>
          <a:xfrm>
            <a:off x="3048000" y="283782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1. We know from the data </a:t>
            </a:r>
            <a:r>
              <a:rPr lang="en-US" sz="1400" b="1" dirty="0"/>
              <a:t>1 packet in 0 </a:t>
            </a:r>
            <a:r>
              <a:rPr lang="en-US" sz="1400" b="1" dirty="0" err="1"/>
              <a:t>ms</a:t>
            </a:r>
            <a:r>
              <a:rPr lang="en-US" sz="1400" dirty="0"/>
              <a:t> arrival time, </a:t>
            </a:r>
            <a:r>
              <a:rPr lang="en-US" sz="1400" b="1" dirty="0"/>
              <a:t>2 packet in 20 </a:t>
            </a:r>
            <a:r>
              <a:rPr lang="en-US" sz="1400" b="1" dirty="0" err="1"/>
              <a:t>ms</a:t>
            </a:r>
            <a:r>
              <a:rPr lang="en-US" sz="1400" dirty="0"/>
              <a:t>, </a:t>
            </a:r>
            <a:r>
              <a:rPr lang="en-US" sz="1400" b="1" dirty="0"/>
              <a:t>3 packet in 45 </a:t>
            </a:r>
            <a:r>
              <a:rPr lang="en-US" sz="1400" b="1" dirty="0" err="1"/>
              <a:t>ms</a:t>
            </a:r>
            <a:r>
              <a:rPr lang="en-US" sz="1400" dirty="0"/>
              <a:t> …… 11 packet </a:t>
            </a:r>
          </a:p>
          <a:p>
            <a:pPr marL="0" indent="0" algn="just">
              <a:lnSpc>
                <a:spcPct val="170000"/>
              </a:lnSpc>
              <a:buFont typeface="Arial" panose="020B0604020202020204" pitchFamily="34" charset="0"/>
              <a:buNone/>
            </a:pPr>
            <a:endParaRPr lang="en-US" sz="1200" dirty="0">
              <a:latin typeface="Arial" panose="020B0604020202020204" pitchFamily="34" charset="0"/>
              <a:cs typeface="Arial" panose="020B0604020202020204" pitchFamily="34" charset="0"/>
            </a:endParaRPr>
          </a:p>
        </p:txBody>
      </p:sp>
      <p:pic>
        <p:nvPicPr>
          <p:cNvPr id="18" name="Picture 17">
            <a:extLst>
              <a:ext uri="{FF2B5EF4-FFF2-40B4-BE49-F238E27FC236}">
                <a16:creationId xmlns:a16="http://schemas.microsoft.com/office/drawing/2014/main" id="{D14B09E4-A47D-3882-CC39-87C5EA3C36B4}"/>
              </a:ext>
            </a:extLst>
          </p:cNvPr>
          <p:cNvPicPr>
            <a:picLocks noChangeAspect="1"/>
          </p:cNvPicPr>
          <p:nvPr/>
        </p:nvPicPr>
        <p:blipFill>
          <a:blip r:embed="rId5"/>
          <a:stretch>
            <a:fillRect/>
          </a:stretch>
        </p:blipFill>
        <p:spPr>
          <a:xfrm>
            <a:off x="7588183" y="1329900"/>
            <a:ext cx="1820416" cy="631077"/>
          </a:xfrm>
          <a:prstGeom prst="rect">
            <a:avLst/>
          </a:prstGeom>
        </p:spPr>
      </p:pic>
      <p:sp>
        <p:nvSpPr>
          <p:cNvPr id="22" name="Content Placeholder 2">
            <a:extLst>
              <a:ext uri="{FF2B5EF4-FFF2-40B4-BE49-F238E27FC236}">
                <a16:creationId xmlns:a16="http://schemas.microsoft.com/office/drawing/2014/main" id="{EF203F1F-670C-5283-555A-24B1132662A0}"/>
              </a:ext>
            </a:extLst>
          </p:cNvPr>
          <p:cNvSpPr txBox="1">
            <a:spLocks/>
          </p:cNvSpPr>
          <p:nvPr/>
        </p:nvSpPr>
        <p:spPr>
          <a:xfrm>
            <a:off x="329378" y="4179846"/>
            <a:ext cx="1379465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400" dirty="0"/>
              <a:t>2. Calculate interval time to get inter-arrival time :                                                                         then :   </a:t>
            </a:r>
          </a:p>
          <a:p>
            <a:pPr marL="0" indent="0" algn="just">
              <a:lnSpc>
                <a:spcPct val="170000"/>
              </a:lnSpc>
              <a:buFont typeface="Arial" panose="020B0604020202020204" pitchFamily="34" charset="0"/>
              <a:buNone/>
            </a:pPr>
            <a:endParaRPr lang="en-US" sz="1200" dirty="0">
              <a:latin typeface="Arial" panose="020B0604020202020204" pitchFamily="34" charset="0"/>
              <a:cs typeface="Arial" panose="020B0604020202020204" pitchFamily="34" charset="0"/>
            </a:endParaRPr>
          </a:p>
        </p:txBody>
      </p:sp>
      <p:pic>
        <p:nvPicPr>
          <p:cNvPr id="24" name="Picture 23">
            <a:extLst>
              <a:ext uri="{FF2B5EF4-FFF2-40B4-BE49-F238E27FC236}">
                <a16:creationId xmlns:a16="http://schemas.microsoft.com/office/drawing/2014/main" id="{60723BDC-3D4E-B937-B67C-BA6EDDF5DFDD}"/>
              </a:ext>
            </a:extLst>
          </p:cNvPr>
          <p:cNvPicPr>
            <a:picLocks noChangeAspect="1"/>
          </p:cNvPicPr>
          <p:nvPr/>
        </p:nvPicPr>
        <p:blipFill>
          <a:blip r:embed="rId6"/>
          <a:stretch>
            <a:fillRect/>
          </a:stretch>
        </p:blipFill>
        <p:spPr>
          <a:xfrm>
            <a:off x="4167360" y="4098629"/>
            <a:ext cx="2677672" cy="398537"/>
          </a:xfrm>
          <a:prstGeom prst="rect">
            <a:avLst/>
          </a:prstGeom>
        </p:spPr>
      </p:pic>
      <p:pic>
        <p:nvPicPr>
          <p:cNvPr id="26" name="Picture 25">
            <a:extLst>
              <a:ext uri="{FF2B5EF4-FFF2-40B4-BE49-F238E27FC236}">
                <a16:creationId xmlns:a16="http://schemas.microsoft.com/office/drawing/2014/main" id="{1E1B311D-EEB4-766C-1CA2-498CF1F5B246}"/>
              </a:ext>
            </a:extLst>
          </p:cNvPr>
          <p:cNvPicPr>
            <a:picLocks noChangeAspect="1"/>
          </p:cNvPicPr>
          <p:nvPr/>
        </p:nvPicPr>
        <p:blipFill>
          <a:blip r:embed="rId7"/>
          <a:stretch>
            <a:fillRect/>
          </a:stretch>
        </p:blipFill>
        <p:spPr>
          <a:xfrm>
            <a:off x="7486925" y="4098629"/>
            <a:ext cx="2261965" cy="398536"/>
          </a:xfrm>
          <a:prstGeom prst="rect">
            <a:avLst/>
          </a:prstGeom>
        </p:spPr>
      </p:pic>
      <p:sp>
        <p:nvSpPr>
          <p:cNvPr id="27" name="Content Placeholder 2">
            <a:extLst>
              <a:ext uri="{FF2B5EF4-FFF2-40B4-BE49-F238E27FC236}">
                <a16:creationId xmlns:a16="http://schemas.microsoft.com/office/drawing/2014/main" id="{A4277CC6-1699-ECD6-7469-C7401DD22851}"/>
              </a:ext>
            </a:extLst>
          </p:cNvPr>
          <p:cNvSpPr txBox="1">
            <a:spLocks/>
          </p:cNvSpPr>
          <p:nvPr/>
        </p:nvSpPr>
        <p:spPr>
          <a:xfrm>
            <a:off x="329378" y="4546546"/>
            <a:ext cx="1379465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sz="1400" dirty="0"/>
          </a:p>
          <a:p>
            <a:pPr marL="0" indent="0" algn="just">
              <a:buFont typeface="Arial" panose="020B0604020202020204" pitchFamily="34" charset="0"/>
              <a:buNone/>
            </a:pPr>
            <a:r>
              <a:rPr lang="en-US" sz="1400" dirty="0"/>
              <a:t>3. Take 11 packet sample to generate </a:t>
            </a:r>
            <a:r>
              <a:rPr lang="en-US" sz="1400" dirty="0" err="1"/>
              <a:t>cdf</a:t>
            </a:r>
            <a:r>
              <a:rPr lang="en-US" sz="1400" dirty="0"/>
              <a:t> graphs  manual:  packet 2 have 20 </a:t>
            </a:r>
            <a:r>
              <a:rPr lang="en-US" sz="1400" dirty="0" err="1"/>
              <a:t>ms</a:t>
            </a:r>
            <a:r>
              <a:rPr lang="en-US" sz="1400" dirty="0"/>
              <a:t>, packet 3 have 25ms ….. Packet 11 = 35 </a:t>
            </a:r>
            <a:r>
              <a:rPr lang="en-US" sz="1400" dirty="0" err="1"/>
              <a:t>ms</a:t>
            </a:r>
            <a:r>
              <a:rPr lang="en-US" sz="1400" dirty="0"/>
              <a:t> </a:t>
            </a:r>
          </a:p>
          <a:p>
            <a:pPr marL="0" indent="0" algn="just">
              <a:buFont typeface="Arial" panose="020B0604020202020204" pitchFamily="34" charset="0"/>
              <a:buNone/>
            </a:pPr>
            <a:endParaRPr lang="en-US" sz="1400" dirty="0"/>
          </a:p>
          <a:p>
            <a:pPr marL="0" indent="0" algn="just">
              <a:buFont typeface="Arial" panose="020B0604020202020204" pitchFamily="34" charset="0"/>
              <a:buNone/>
            </a:pPr>
            <a:r>
              <a:rPr lang="en-US" sz="1400" dirty="0"/>
              <a:t>4. Packet 1 </a:t>
            </a:r>
            <a:r>
              <a:rPr lang="en-US" sz="1400" dirty="0">
                <a:sym typeface="Wingdings" panose="05000000000000000000" pitchFamily="2" charset="2"/>
              </a:rPr>
              <a:t> packet 11, have Sort the IAT scores from smallest to largest:</a:t>
            </a:r>
            <a:r>
              <a:rPr lang="en-US" sz="1400" dirty="0"/>
              <a:t> </a:t>
            </a:r>
            <a:r>
              <a:rPr lang="en-US" sz="1050" dirty="0"/>
              <a:t> 20 </a:t>
            </a:r>
            <a:r>
              <a:rPr lang="en-US" sz="1050" dirty="0" err="1"/>
              <a:t>ms</a:t>
            </a:r>
            <a:r>
              <a:rPr lang="en-US" sz="1050" dirty="0"/>
              <a:t> , 20 </a:t>
            </a:r>
            <a:r>
              <a:rPr lang="en-US" sz="1050" dirty="0" err="1"/>
              <a:t>ms</a:t>
            </a:r>
            <a:r>
              <a:rPr lang="en-US" sz="1050" dirty="0"/>
              <a:t>, 25 </a:t>
            </a:r>
            <a:r>
              <a:rPr lang="en-US" sz="1050" dirty="0" err="1"/>
              <a:t>ms</a:t>
            </a:r>
            <a:r>
              <a:rPr lang="en-US" sz="1050" dirty="0"/>
              <a:t>, 25 </a:t>
            </a:r>
            <a:r>
              <a:rPr lang="en-US" sz="1050" dirty="0" err="1"/>
              <a:t>ms</a:t>
            </a:r>
            <a:r>
              <a:rPr lang="en-US" sz="1050" dirty="0"/>
              <a:t>, 30 </a:t>
            </a:r>
            <a:r>
              <a:rPr lang="en-US" sz="1050" dirty="0" err="1"/>
              <a:t>ms</a:t>
            </a:r>
            <a:r>
              <a:rPr lang="en-US" sz="1050" dirty="0"/>
              <a:t> , 30 </a:t>
            </a:r>
            <a:r>
              <a:rPr lang="en-US" sz="1050" dirty="0" err="1"/>
              <a:t>ms</a:t>
            </a:r>
            <a:r>
              <a:rPr lang="en-US" sz="1050" dirty="0"/>
              <a:t>, 30 </a:t>
            </a:r>
            <a:r>
              <a:rPr lang="en-US" sz="1050" dirty="0" err="1"/>
              <a:t>ms</a:t>
            </a:r>
            <a:r>
              <a:rPr lang="en-US" sz="1050" dirty="0"/>
              <a:t>,  35 </a:t>
            </a:r>
            <a:r>
              <a:rPr lang="en-US" sz="1050" dirty="0" err="1"/>
              <a:t>ms</a:t>
            </a:r>
            <a:r>
              <a:rPr lang="en-US" sz="1050" dirty="0"/>
              <a:t>, 35 </a:t>
            </a:r>
            <a:r>
              <a:rPr lang="en-US" sz="1050" dirty="0" err="1"/>
              <a:t>ms</a:t>
            </a:r>
            <a:r>
              <a:rPr lang="en-US" sz="1050" dirty="0"/>
              <a:t>, 40 </a:t>
            </a:r>
            <a:r>
              <a:rPr lang="en-US" sz="1050" dirty="0" err="1"/>
              <a:t>ms</a:t>
            </a:r>
            <a:endParaRPr lang="en-US" sz="1050" dirty="0"/>
          </a:p>
          <a:p>
            <a:pPr marL="0" indent="0" algn="just">
              <a:buFont typeface="Arial" panose="020B0604020202020204" pitchFamily="34" charset="0"/>
              <a:buNone/>
            </a:pPr>
            <a:endParaRPr lang="en-US" sz="1400" dirty="0"/>
          </a:p>
          <a:p>
            <a:pPr marL="0" indent="0" algn="just">
              <a:buFont typeface="Arial" panose="020B0604020202020204" pitchFamily="34" charset="0"/>
              <a:buNone/>
            </a:pPr>
            <a:r>
              <a:rPr lang="en-US" sz="1400" dirty="0"/>
              <a:t>5. Numbers of sample (n) = 10.  </a:t>
            </a:r>
          </a:p>
          <a:p>
            <a:pPr marL="0" indent="0" algn="just">
              <a:lnSpc>
                <a:spcPct val="170000"/>
              </a:lnSpc>
              <a:buFont typeface="Arial" panose="020B0604020202020204" pitchFamily="34" charset="0"/>
              <a:buNone/>
            </a:pPr>
            <a:endParaRPr lang="en-US" sz="1200" dirty="0">
              <a:latin typeface="Arial" panose="020B0604020202020204" pitchFamily="34" charset="0"/>
              <a:cs typeface="Arial" panose="020B0604020202020204" pitchFamily="34" charset="0"/>
            </a:endParaRPr>
          </a:p>
        </p:txBody>
      </p:sp>
      <p:cxnSp>
        <p:nvCxnSpPr>
          <p:cNvPr id="33" name="Straight Arrow Connector 32">
            <a:extLst>
              <a:ext uri="{FF2B5EF4-FFF2-40B4-BE49-F238E27FC236}">
                <a16:creationId xmlns:a16="http://schemas.microsoft.com/office/drawing/2014/main" id="{0EB20230-9DFC-C8AD-B654-CCF4A5B3E77F}"/>
              </a:ext>
            </a:extLst>
          </p:cNvPr>
          <p:cNvCxnSpPr>
            <a:cxnSpLocks/>
          </p:cNvCxnSpPr>
          <p:nvPr/>
        </p:nvCxnSpPr>
        <p:spPr>
          <a:xfrm flipH="1">
            <a:off x="5810865" y="3067665"/>
            <a:ext cx="1388130" cy="103096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3013B86-D65A-6966-5F8C-CA2A21BF76F5}"/>
              </a:ext>
            </a:extLst>
          </p:cNvPr>
          <p:cNvCxnSpPr>
            <a:cxnSpLocks/>
          </p:cNvCxnSpPr>
          <p:nvPr/>
        </p:nvCxnSpPr>
        <p:spPr>
          <a:xfrm flipH="1">
            <a:off x="5375787" y="3119946"/>
            <a:ext cx="3876368" cy="876945"/>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0F1A483-6386-BCC7-7E90-01734F62BB2E}"/>
              </a:ext>
            </a:extLst>
          </p:cNvPr>
          <p:cNvCxnSpPr>
            <a:cxnSpLocks/>
          </p:cNvCxnSpPr>
          <p:nvPr/>
        </p:nvCxnSpPr>
        <p:spPr>
          <a:xfrm flipH="1">
            <a:off x="8340551" y="3142482"/>
            <a:ext cx="2293036" cy="851183"/>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5DF3223-83C9-45C7-ED6C-363A9B9F1824}"/>
              </a:ext>
            </a:extLst>
          </p:cNvPr>
          <p:cNvCxnSpPr>
            <a:cxnSpLocks/>
          </p:cNvCxnSpPr>
          <p:nvPr/>
        </p:nvCxnSpPr>
        <p:spPr>
          <a:xfrm flipH="1">
            <a:off x="8975622" y="3093101"/>
            <a:ext cx="432977" cy="923100"/>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9A7BB20F-F2F5-D6C5-07DD-B4F4B99A6933}"/>
              </a:ext>
            </a:extLst>
          </p:cNvPr>
          <p:cNvSpPr txBox="1"/>
          <p:nvPr/>
        </p:nvSpPr>
        <p:spPr>
          <a:xfrm>
            <a:off x="6526373" y="3074084"/>
            <a:ext cx="365574" cy="369332"/>
          </a:xfrm>
          <a:prstGeom prst="rect">
            <a:avLst/>
          </a:prstGeom>
          <a:noFill/>
        </p:spPr>
        <p:txBody>
          <a:bodyPr wrap="square" rtlCol="0">
            <a:spAutoFit/>
          </a:bodyPr>
          <a:lstStyle/>
          <a:p>
            <a:r>
              <a:rPr lang="en-US" b="1" dirty="0"/>
              <a:t>1</a:t>
            </a:r>
          </a:p>
        </p:txBody>
      </p:sp>
      <p:sp>
        <p:nvSpPr>
          <p:cNvPr id="47" name="TextBox 46">
            <a:extLst>
              <a:ext uri="{FF2B5EF4-FFF2-40B4-BE49-F238E27FC236}">
                <a16:creationId xmlns:a16="http://schemas.microsoft.com/office/drawing/2014/main" id="{0F492C66-1951-148D-CB84-54B0E3776E65}"/>
              </a:ext>
            </a:extLst>
          </p:cNvPr>
          <p:cNvSpPr txBox="1"/>
          <p:nvPr/>
        </p:nvSpPr>
        <p:spPr>
          <a:xfrm>
            <a:off x="5725227" y="3483502"/>
            <a:ext cx="331629" cy="369332"/>
          </a:xfrm>
          <a:prstGeom prst="rect">
            <a:avLst/>
          </a:prstGeom>
          <a:noFill/>
        </p:spPr>
        <p:txBody>
          <a:bodyPr wrap="square" rtlCol="0">
            <a:spAutoFit/>
          </a:bodyPr>
          <a:lstStyle/>
          <a:p>
            <a:r>
              <a:rPr lang="en-US" b="1" dirty="0"/>
              <a:t>2</a:t>
            </a:r>
          </a:p>
        </p:txBody>
      </p:sp>
      <p:sp>
        <p:nvSpPr>
          <p:cNvPr id="48" name="TextBox 47">
            <a:extLst>
              <a:ext uri="{FF2B5EF4-FFF2-40B4-BE49-F238E27FC236}">
                <a16:creationId xmlns:a16="http://schemas.microsoft.com/office/drawing/2014/main" id="{FD59C554-99AF-DA93-D81F-F31D588FC4E5}"/>
              </a:ext>
            </a:extLst>
          </p:cNvPr>
          <p:cNvSpPr txBox="1"/>
          <p:nvPr/>
        </p:nvSpPr>
        <p:spPr>
          <a:xfrm>
            <a:off x="9832936" y="3392973"/>
            <a:ext cx="365574" cy="369332"/>
          </a:xfrm>
          <a:prstGeom prst="rect">
            <a:avLst/>
          </a:prstGeom>
          <a:noFill/>
        </p:spPr>
        <p:txBody>
          <a:bodyPr wrap="square" rtlCol="0">
            <a:spAutoFit/>
          </a:bodyPr>
          <a:lstStyle/>
          <a:p>
            <a:r>
              <a:rPr lang="en-US" b="1" dirty="0"/>
              <a:t>3</a:t>
            </a:r>
          </a:p>
        </p:txBody>
      </p:sp>
      <p:sp>
        <p:nvSpPr>
          <p:cNvPr id="49" name="TextBox 48">
            <a:extLst>
              <a:ext uri="{FF2B5EF4-FFF2-40B4-BE49-F238E27FC236}">
                <a16:creationId xmlns:a16="http://schemas.microsoft.com/office/drawing/2014/main" id="{FF031F9F-A908-C6E1-ABB4-BD01C3971DA5}"/>
              </a:ext>
            </a:extLst>
          </p:cNvPr>
          <p:cNvSpPr txBox="1"/>
          <p:nvPr/>
        </p:nvSpPr>
        <p:spPr>
          <a:xfrm>
            <a:off x="8484668" y="3484025"/>
            <a:ext cx="365574" cy="369332"/>
          </a:xfrm>
          <a:prstGeom prst="rect">
            <a:avLst/>
          </a:prstGeom>
          <a:noFill/>
        </p:spPr>
        <p:txBody>
          <a:bodyPr wrap="square" rtlCol="0">
            <a:spAutoFit/>
          </a:bodyPr>
          <a:lstStyle/>
          <a:p>
            <a:r>
              <a:rPr lang="en-US" b="1" dirty="0"/>
              <a:t>4</a:t>
            </a:r>
          </a:p>
        </p:txBody>
      </p:sp>
    </p:spTree>
    <p:extLst>
      <p:ext uri="{BB962C8B-B14F-4D97-AF65-F5344CB8AC3E}">
        <p14:creationId xmlns:p14="http://schemas.microsoft.com/office/powerpoint/2010/main" val="2572108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49BF460C-E389-9FE9-C939-12686E5334AC}"/>
              </a:ext>
            </a:extLst>
          </p:cNvPr>
          <p:cNvSpPr txBox="1">
            <a:spLocks/>
          </p:cNvSpPr>
          <p:nvPr/>
        </p:nvSpPr>
        <p:spPr>
          <a:xfrm>
            <a:off x="727587" y="224150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70000"/>
              </a:lnSpc>
              <a:buFont typeface="Arial" panose="020B0604020202020204" pitchFamily="34" charset="0"/>
              <a:buNone/>
            </a:pPr>
            <a:r>
              <a:rPr lang="en-US" sz="1000" dirty="0">
                <a:latin typeface="Arial" panose="020B0604020202020204" pitchFamily="34" charset="0"/>
                <a:cs typeface="Arial" panose="020B0604020202020204" pitchFamily="34" charset="0"/>
              </a:rPr>
              <a:t>6. Calculate CDF with manually </a:t>
            </a:r>
            <a:endParaRPr lang="en-US" sz="12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EB0B5CE0-B3B5-F5F9-106E-BD2F0BEEE30A}"/>
              </a:ext>
            </a:extLst>
          </p:cNvPr>
          <p:cNvPicPr>
            <a:picLocks noChangeAspect="1"/>
          </p:cNvPicPr>
          <p:nvPr/>
        </p:nvPicPr>
        <p:blipFill>
          <a:blip r:embed="rId2"/>
          <a:stretch>
            <a:fillRect/>
          </a:stretch>
        </p:blipFill>
        <p:spPr>
          <a:xfrm>
            <a:off x="3009632" y="300748"/>
            <a:ext cx="6272020" cy="1905165"/>
          </a:xfrm>
          <a:prstGeom prst="rect">
            <a:avLst/>
          </a:prstGeom>
        </p:spPr>
      </p:pic>
      <p:sp>
        <p:nvSpPr>
          <p:cNvPr id="20" name="Arrow: Curved Left 19">
            <a:extLst>
              <a:ext uri="{FF2B5EF4-FFF2-40B4-BE49-F238E27FC236}">
                <a16:creationId xmlns:a16="http://schemas.microsoft.com/office/drawing/2014/main" id="{33F64ADC-FDD4-AB8E-D00B-6717CA29D491}"/>
              </a:ext>
            </a:extLst>
          </p:cNvPr>
          <p:cNvSpPr/>
          <p:nvPr/>
        </p:nvSpPr>
        <p:spPr>
          <a:xfrm>
            <a:off x="6130411" y="648929"/>
            <a:ext cx="147485" cy="304801"/>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Arrow: Curved Left 27">
            <a:extLst>
              <a:ext uri="{FF2B5EF4-FFF2-40B4-BE49-F238E27FC236}">
                <a16:creationId xmlns:a16="http://schemas.microsoft.com/office/drawing/2014/main" id="{37106BDD-C76A-93DD-75D4-67419A46AF68}"/>
              </a:ext>
            </a:extLst>
          </p:cNvPr>
          <p:cNvSpPr/>
          <p:nvPr/>
        </p:nvSpPr>
        <p:spPr>
          <a:xfrm>
            <a:off x="6130410" y="968194"/>
            <a:ext cx="147485" cy="304801"/>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Arrow: Curved Left 28">
            <a:extLst>
              <a:ext uri="{FF2B5EF4-FFF2-40B4-BE49-F238E27FC236}">
                <a16:creationId xmlns:a16="http://schemas.microsoft.com/office/drawing/2014/main" id="{3A2E181A-80FE-F55A-1A6B-72F6CCC1D3E1}"/>
              </a:ext>
            </a:extLst>
          </p:cNvPr>
          <p:cNvSpPr/>
          <p:nvPr/>
        </p:nvSpPr>
        <p:spPr>
          <a:xfrm>
            <a:off x="6130410" y="1282252"/>
            <a:ext cx="147485" cy="304801"/>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Arrow: Curved Left 29">
            <a:extLst>
              <a:ext uri="{FF2B5EF4-FFF2-40B4-BE49-F238E27FC236}">
                <a16:creationId xmlns:a16="http://schemas.microsoft.com/office/drawing/2014/main" id="{3C3F30C4-1FDB-7BC0-872A-F69B39F83972}"/>
              </a:ext>
            </a:extLst>
          </p:cNvPr>
          <p:cNvSpPr/>
          <p:nvPr/>
        </p:nvSpPr>
        <p:spPr>
          <a:xfrm>
            <a:off x="6130410" y="1596886"/>
            <a:ext cx="147485" cy="304801"/>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Plus Sign 30">
            <a:extLst>
              <a:ext uri="{FF2B5EF4-FFF2-40B4-BE49-F238E27FC236}">
                <a16:creationId xmlns:a16="http://schemas.microsoft.com/office/drawing/2014/main" id="{569F8D58-B65E-BFD1-7206-0916EDCA300F}"/>
              </a:ext>
            </a:extLst>
          </p:cNvPr>
          <p:cNvSpPr/>
          <p:nvPr/>
        </p:nvSpPr>
        <p:spPr>
          <a:xfrm>
            <a:off x="6277895" y="811160"/>
            <a:ext cx="324464" cy="304801"/>
          </a:xfrm>
          <a:prstGeom prst="mathPlu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id="{CD74B1B1-0EE9-FF15-21C3-9BFCD07ADA06}"/>
              </a:ext>
            </a:extLst>
          </p:cNvPr>
          <p:cNvCxnSpPr>
            <a:stCxn id="31" idx="0"/>
          </p:cNvCxnSpPr>
          <p:nvPr/>
        </p:nvCxnSpPr>
        <p:spPr>
          <a:xfrm flipV="1">
            <a:off x="6559351" y="963560"/>
            <a:ext cx="2220855" cy="1"/>
          </a:xfrm>
          <a:prstGeom prst="straightConnector1">
            <a:avLst/>
          </a:prstGeom>
          <a:ln>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41521E1-C1F5-B4B4-D231-7D1DDFE94863}"/>
              </a:ext>
            </a:extLst>
          </p:cNvPr>
          <p:cNvCxnSpPr/>
          <p:nvPr/>
        </p:nvCxnSpPr>
        <p:spPr>
          <a:xfrm flipV="1">
            <a:off x="6559350" y="659042"/>
            <a:ext cx="2220855" cy="1"/>
          </a:xfrm>
          <a:prstGeom prst="straightConnector1">
            <a:avLst/>
          </a:prstGeom>
          <a:ln>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Plus Sign 34">
            <a:extLst>
              <a:ext uri="{FF2B5EF4-FFF2-40B4-BE49-F238E27FC236}">
                <a16:creationId xmlns:a16="http://schemas.microsoft.com/office/drawing/2014/main" id="{0C9871A3-0B6C-A073-A033-6FB9FB03348E}"/>
              </a:ext>
            </a:extLst>
          </p:cNvPr>
          <p:cNvSpPr/>
          <p:nvPr/>
        </p:nvSpPr>
        <p:spPr>
          <a:xfrm>
            <a:off x="6256391" y="1091097"/>
            <a:ext cx="324464" cy="304801"/>
          </a:xfrm>
          <a:prstGeom prst="mathPlu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6" name="Plus Sign 35">
            <a:extLst>
              <a:ext uri="{FF2B5EF4-FFF2-40B4-BE49-F238E27FC236}">
                <a16:creationId xmlns:a16="http://schemas.microsoft.com/office/drawing/2014/main" id="{13D1D956-D61C-AE90-9673-BA65D7974429}"/>
              </a:ext>
            </a:extLst>
          </p:cNvPr>
          <p:cNvSpPr/>
          <p:nvPr/>
        </p:nvSpPr>
        <p:spPr>
          <a:xfrm>
            <a:off x="6277895" y="1395316"/>
            <a:ext cx="324464" cy="304801"/>
          </a:xfrm>
          <a:prstGeom prst="mathPlu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1B4C89D0-F888-DF94-F7F3-BDADC5BFCF13}"/>
              </a:ext>
            </a:extLst>
          </p:cNvPr>
          <p:cNvCxnSpPr/>
          <p:nvPr/>
        </p:nvCxnSpPr>
        <p:spPr>
          <a:xfrm flipV="1">
            <a:off x="6559349" y="1245806"/>
            <a:ext cx="2220855" cy="1"/>
          </a:xfrm>
          <a:prstGeom prst="straightConnector1">
            <a:avLst/>
          </a:prstGeom>
          <a:ln>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5FB1216D-8AE9-F28D-543D-E63DA1AD8C97}"/>
              </a:ext>
            </a:extLst>
          </p:cNvPr>
          <p:cNvCxnSpPr/>
          <p:nvPr/>
        </p:nvCxnSpPr>
        <p:spPr>
          <a:xfrm flipV="1">
            <a:off x="6580855" y="1538465"/>
            <a:ext cx="2220855" cy="1"/>
          </a:xfrm>
          <a:prstGeom prst="straightConnector1">
            <a:avLst/>
          </a:prstGeom>
          <a:ln>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Plus Sign 38">
            <a:extLst>
              <a:ext uri="{FF2B5EF4-FFF2-40B4-BE49-F238E27FC236}">
                <a16:creationId xmlns:a16="http://schemas.microsoft.com/office/drawing/2014/main" id="{00F6B7FC-09DF-B1E5-CC19-DA133AF0A7B1}"/>
              </a:ext>
            </a:extLst>
          </p:cNvPr>
          <p:cNvSpPr/>
          <p:nvPr/>
        </p:nvSpPr>
        <p:spPr>
          <a:xfrm>
            <a:off x="6277895" y="1666300"/>
            <a:ext cx="324464" cy="304801"/>
          </a:xfrm>
          <a:prstGeom prst="mathPlu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6F3ADDA0-5AF0-6697-7900-203C1101E476}"/>
              </a:ext>
            </a:extLst>
          </p:cNvPr>
          <p:cNvCxnSpPr/>
          <p:nvPr/>
        </p:nvCxnSpPr>
        <p:spPr>
          <a:xfrm flipV="1">
            <a:off x="6580855" y="1809449"/>
            <a:ext cx="2220855" cy="1"/>
          </a:xfrm>
          <a:prstGeom prst="straightConnector1">
            <a:avLst/>
          </a:prstGeom>
          <a:ln>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a16="http://schemas.microsoft.com/office/drawing/2014/main" id="{D908DD10-C28E-62C9-6D2E-B3E6B30F63B3}"/>
              </a:ext>
            </a:extLst>
          </p:cNvPr>
          <p:cNvPicPr>
            <a:picLocks noChangeAspect="1"/>
          </p:cNvPicPr>
          <p:nvPr/>
        </p:nvPicPr>
        <p:blipFill>
          <a:blip r:embed="rId3"/>
          <a:stretch>
            <a:fillRect/>
          </a:stretch>
        </p:blipFill>
        <p:spPr>
          <a:xfrm>
            <a:off x="612092" y="2545663"/>
            <a:ext cx="2009905" cy="776775"/>
          </a:xfrm>
          <a:prstGeom prst="rect">
            <a:avLst/>
          </a:prstGeom>
        </p:spPr>
      </p:pic>
      <p:sp>
        <p:nvSpPr>
          <p:cNvPr id="43" name="Arrow: Right 42">
            <a:extLst>
              <a:ext uri="{FF2B5EF4-FFF2-40B4-BE49-F238E27FC236}">
                <a16:creationId xmlns:a16="http://schemas.microsoft.com/office/drawing/2014/main" id="{BC778E22-B0BD-E464-DE3F-BC4F40F4A471}"/>
              </a:ext>
            </a:extLst>
          </p:cNvPr>
          <p:cNvSpPr/>
          <p:nvPr/>
        </p:nvSpPr>
        <p:spPr>
          <a:xfrm>
            <a:off x="2664542" y="2772697"/>
            <a:ext cx="501445" cy="26547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5" name="Picture 44">
            <a:extLst>
              <a:ext uri="{FF2B5EF4-FFF2-40B4-BE49-F238E27FC236}">
                <a16:creationId xmlns:a16="http://schemas.microsoft.com/office/drawing/2014/main" id="{0B4A74BC-F48C-7AA9-B5B0-13CBECCAA276}"/>
              </a:ext>
            </a:extLst>
          </p:cNvPr>
          <p:cNvPicPr>
            <a:picLocks noChangeAspect="1"/>
          </p:cNvPicPr>
          <p:nvPr/>
        </p:nvPicPr>
        <p:blipFill>
          <a:blip r:embed="rId4"/>
          <a:stretch>
            <a:fillRect/>
          </a:stretch>
        </p:blipFill>
        <p:spPr>
          <a:xfrm>
            <a:off x="3338654" y="2459923"/>
            <a:ext cx="2309060" cy="823032"/>
          </a:xfrm>
          <a:prstGeom prst="rect">
            <a:avLst/>
          </a:prstGeom>
        </p:spPr>
      </p:pic>
      <p:cxnSp>
        <p:nvCxnSpPr>
          <p:cNvPr id="50" name="Straight Arrow Connector 49">
            <a:extLst>
              <a:ext uri="{FF2B5EF4-FFF2-40B4-BE49-F238E27FC236}">
                <a16:creationId xmlns:a16="http://schemas.microsoft.com/office/drawing/2014/main" id="{C8B49535-FD75-9315-DC27-CBDEE6388948}"/>
              </a:ext>
            </a:extLst>
          </p:cNvPr>
          <p:cNvCxnSpPr/>
          <p:nvPr/>
        </p:nvCxnSpPr>
        <p:spPr>
          <a:xfrm>
            <a:off x="3338654" y="659042"/>
            <a:ext cx="643411" cy="2113655"/>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94C58BE3-CB8C-B4CA-8C62-6FE41530AE6A}"/>
              </a:ext>
            </a:extLst>
          </p:cNvPr>
          <p:cNvCxnSpPr>
            <a:cxnSpLocks/>
          </p:cNvCxnSpPr>
          <p:nvPr/>
        </p:nvCxnSpPr>
        <p:spPr>
          <a:xfrm flipV="1">
            <a:off x="4964830" y="2133600"/>
            <a:ext cx="1020557" cy="1008088"/>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1A389BF5-5B7F-428D-CC3F-C815BB173347}"/>
              </a:ext>
            </a:extLst>
          </p:cNvPr>
          <p:cNvCxnSpPr>
            <a:cxnSpLocks/>
          </p:cNvCxnSpPr>
          <p:nvPr/>
        </p:nvCxnSpPr>
        <p:spPr>
          <a:xfrm flipV="1">
            <a:off x="4761790" y="811160"/>
            <a:ext cx="4342880" cy="1993104"/>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56" name="Picture 55">
            <a:extLst>
              <a:ext uri="{FF2B5EF4-FFF2-40B4-BE49-F238E27FC236}">
                <a16:creationId xmlns:a16="http://schemas.microsoft.com/office/drawing/2014/main" id="{0EE7EC51-B09F-4AE4-DC38-4C4D8C7A3729}"/>
              </a:ext>
            </a:extLst>
          </p:cNvPr>
          <p:cNvPicPr>
            <a:picLocks noChangeAspect="1"/>
          </p:cNvPicPr>
          <p:nvPr/>
        </p:nvPicPr>
        <p:blipFill>
          <a:blip r:embed="rId5"/>
          <a:stretch>
            <a:fillRect/>
          </a:stretch>
        </p:blipFill>
        <p:spPr>
          <a:xfrm>
            <a:off x="6096000" y="2526210"/>
            <a:ext cx="2118885" cy="756745"/>
          </a:xfrm>
          <a:prstGeom prst="rect">
            <a:avLst/>
          </a:prstGeom>
        </p:spPr>
      </p:pic>
      <p:sp>
        <p:nvSpPr>
          <p:cNvPr id="59" name="Content Placeholder 2">
            <a:extLst>
              <a:ext uri="{FF2B5EF4-FFF2-40B4-BE49-F238E27FC236}">
                <a16:creationId xmlns:a16="http://schemas.microsoft.com/office/drawing/2014/main" id="{3989125F-C7D3-08F0-24CB-09FF008BAFCE}"/>
              </a:ext>
            </a:extLst>
          </p:cNvPr>
          <p:cNvSpPr txBox="1">
            <a:spLocks/>
          </p:cNvSpPr>
          <p:nvPr/>
        </p:nvSpPr>
        <p:spPr>
          <a:xfrm>
            <a:off x="8214885" y="256420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70000"/>
              </a:lnSpc>
              <a:buFont typeface="Arial" panose="020B0604020202020204" pitchFamily="34" charset="0"/>
              <a:buNone/>
            </a:pPr>
            <a:r>
              <a:rPr lang="en-US" sz="3200" dirty="0">
                <a:ln>
                  <a:solidFill>
                    <a:schemeClr val="tx1"/>
                  </a:solidFill>
                </a:ln>
                <a:latin typeface="Arial" panose="020B0604020202020204" pitchFamily="34" charset="0"/>
                <a:cs typeface="Arial" panose="020B0604020202020204" pitchFamily="34" charset="0"/>
              </a:rPr>
              <a:t>……</a:t>
            </a:r>
          </a:p>
        </p:txBody>
      </p:sp>
      <p:pic>
        <p:nvPicPr>
          <p:cNvPr id="62" name="Picture 61">
            <a:extLst>
              <a:ext uri="{FF2B5EF4-FFF2-40B4-BE49-F238E27FC236}">
                <a16:creationId xmlns:a16="http://schemas.microsoft.com/office/drawing/2014/main" id="{645991DD-2420-7CBD-8A73-34831A2E6013}"/>
              </a:ext>
            </a:extLst>
          </p:cNvPr>
          <p:cNvPicPr>
            <a:picLocks noChangeAspect="1"/>
          </p:cNvPicPr>
          <p:nvPr/>
        </p:nvPicPr>
        <p:blipFill>
          <a:blip r:embed="rId6"/>
          <a:stretch>
            <a:fillRect/>
          </a:stretch>
        </p:blipFill>
        <p:spPr>
          <a:xfrm>
            <a:off x="9242062" y="2497979"/>
            <a:ext cx="1893608" cy="763899"/>
          </a:xfrm>
          <a:prstGeom prst="rect">
            <a:avLst/>
          </a:prstGeom>
        </p:spPr>
      </p:pic>
      <p:pic>
        <p:nvPicPr>
          <p:cNvPr id="64" name="Picture 63">
            <a:extLst>
              <a:ext uri="{FF2B5EF4-FFF2-40B4-BE49-F238E27FC236}">
                <a16:creationId xmlns:a16="http://schemas.microsoft.com/office/drawing/2014/main" id="{85B72617-89D1-D50C-648B-D53587A6B4F7}"/>
              </a:ext>
            </a:extLst>
          </p:cNvPr>
          <p:cNvPicPr>
            <a:picLocks noChangeAspect="1"/>
          </p:cNvPicPr>
          <p:nvPr/>
        </p:nvPicPr>
        <p:blipFill>
          <a:blip r:embed="rId7"/>
          <a:stretch>
            <a:fillRect/>
          </a:stretch>
        </p:blipFill>
        <p:spPr>
          <a:xfrm>
            <a:off x="802333" y="3716313"/>
            <a:ext cx="5343309" cy="2902029"/>
          </a:xfrm>
          <a:prstGeom prst="rect">
            <a:avLst/>
          </a:prstGeom>
        </p:spPr>
      </p:pic>
      <p:pic>
        <p:nvPicPr>
          <p:cNvPr id="67" name="Picture 66">
            <a:extLst>
              <a:ext uri="{FF2B5EF4-FFF2-40B4-BE49-F238E27FC236}">
                <a16:creationId xmlns:a16="http://schemas.microsoft.com/office/drawing/2014/main" id="{2CBCA03E-0FCD-6A97-6021-1E9EF78DA077}"/>
              </a:ext>
            </a:extLst>
          </p:cNvPr>
          <p:cNvPicPr>
            <a:picLocks noChangeAspect="1"/>
          </p:cNvPicPr>
          <p:nvPr/>
        </p:nvPicPr>
        <p:blipFill>
          <a:blip r:embed="rId8"/>
          <a:stretch>
            <a:fillRect/>
          </a:stretch>
        </p:blipFill>
        <p:spPr>
          <a:xfrm>
            <a:off x="6228379" y="3800929"/>
            <a:ext cx="5906012" cy="2781541"/>
          </a:xfrm>
          <a:prstGeom prst="rect">
            <a:avLst/>
          </a:prstGeom>
        </p:spPr>
      </p:pic>
      <p:cxnSp>
        <p:nvCxnSpPr>
          <p:cNvPr id="69" name="Straight Arrow Connector 68">
            <a:extLst>
              <a:ext uri="{FF2B5EF4-FFF2-40B4-BE49-F238E27FC236}">
                <a16:creationId xmlns:a16="http://schemas.microsoft.com/office/drawing/2014/main" id="{0916FC49-5AFE-BB33-B344-BBA24361043E}"/>
              </a:ext>
            </a:extLst>
          </p:cNvPr>
          <p:cNvCxnSpPr/>
          <p:nvPr/>
        </p:nvCxnSpPr>
        <p:spPr>
          <a:xfrm>
            <a:off x="6685280" y="3096922"/>
            <a:ext cx="1656080" cy="3102036"/>
          </a:xfrm>
          <a:prstGeom prst="straightConnector1">
            <a:avLst/>
          </a:prstGeom>
          <a:ln w="285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AFCDC417-406A-0DD2-CF68-ADDC4B444381}"/>
              </a:ext>
            </a:extLst>
          </p:cNvPr>
          <p:cNvCxnSpPr/>
          <p:nvPr/>
        </p:nvCxnSpPr>
        <p:spPr>
          <a:xfrm flipH="1">
            <a:off x="6440127" y="3038168"/>
            <a:ext cx="1332273" cy="2305992"/>
          </a:xfrm>
          <a:prstGeom prst="straightConnector1">
            <a:avLst/>
          </a:prstGeom>
          <a:ln w="3810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90089C7-5828-3E2B-000D-030116EC5309}"/>
              </a:ext>
            </a:extLst>
          </p:cNvPr>
          <p:cNvCxnSpPr>
            <a:cxnSpLocks/>
          </p:cNvCxnSpPr>
          <p:nvPr/>
        </p:nvCxnSpPr>
        <p:spPr>
          <a:xfrm>
            <a:off x="8341360" y="5418750"/>
            <a:ext cx="0" cy="62645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75" name="Straight Connector 74">
            <a:extLst>
              <a:ext uri="{FF2B5EF4-FFF2-40B4-BE49-F238E27FC236}">
                <a16:creationId xmlns:a16="http://schemas.microsoft.com/office/drawing/2014/main" id="{D7425B17-3ADD-FF51-189E-50507D0617CB}"/>
              </a:ext>
            </a:extLst>
          </p:cNvPr>
          <p:cNvCxnSpPr>
            <a:cxnSpLocks/>
          </p:cNvCxnSpPr>
          <p:nvPr/>
        </p:nvCxnSpPr>
        <p:spPr>
          <a:xfrm flipH="1">
            <a:off x="6559349" y="5344160"/>
            <a:ext cx="1774758"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058657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187864" y="-104513"/>
            <a:ext cx="10515600" cy="1325563"/>
          </a:xfrm>
        </p:spPr>
        <p:txBody>
          <a:bodyPr/>
          <a:lstStyle/>
          <a:p>
            <a:r>
              <a:rPr lang="en-US" b="1" dirty="0">
                <a:latin typeface="Mona Sans VF"/>
              </a:rPr>
              <a:t>CDF with inter-arrival time Analysis </a:t>
            </a:r>
            <a:endParaRPr lang="en-US" dirty="0"/>
          </a:p>
        </p:txBody>
      </p:sp>
      <p:sp>
        <p:nvSpPr>
          <p:cNvPr id="8" name="Content Placeholder 2">
            <a:extLst>
              <a:ext uri="{FF2B5EF4-FFF2-40B4-BE49-F238E27FC236}">
                <a16:creationId xmlns:a16="http://schemas.microsoft.com/office/drawing/2014/main" id="{13A5F391-4948-7637-34BE-6EAFA8BB0F67}"/>
              </a:ext>
            </a:extLst>
          </p:cNvPr>
          <p:cNvSpPr txBox="1">
            <a:spLocks/>
          </p:cNvSpPr>
          <p:nvPr/>
        </p:nvSpPr>
        <p:spPr>
          <a:xfrm>
            <a:off x="358875" y="1105256"/>
            <a:ext cx="13794659"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t>A. Interpretation of the axes</a:t>
            </a:r>
          </a:p>
          <a:p>
            <a:pPr>
              <a:buFont typeface="Arial" panose="020B0604020202020204" pitchFamily="34" charset="0"/>
              <a:buChar char="•"/>
            </a:pPr>
            <a:r>
              <a:rPr lang="en-US" sz="1800" dirty="0"/>
              <a:t>X-axis: Inter-arrival time in milliseconds (</a:t>
            </a:r>
            <a:r>
              <a:rPr lang="en-US" sz="1800" dirty="0" err="1"/>
              <a:t>ms</a:t>
            </a:r>
            <a:r>
              <a:rPr lang="en-US" sz="1800" dirty="0"/>
              <a:t>).</a:t>
            </a:r>
          </a:p>
          <a:p>
            <a:pPr>
              <a:buFont typeface="Arial" panose="020B0604020202020204" pitchFamily="34" charset="0"/>
              <a:buChar char="•"/>
            </a:pPr>
            <a:r>
              <a:rPr lang="en-US" sz="1800" dirty="0"/>
              <a:t>Y-axis: Cumulative probability, ranging from 0 to 1.</a:t>
            </a:r>
          </a:p>
          <a:p>
            <a:pPr>
              <a:buFont typeface="Arial" panose="020B0604020202020204" pitchFamily="34" charset="0"/>
              <a:buChar char="•"/>
            </a:pPr>
            <a:endParaRPr lang="en-US" sz="1800" dirty="0"/>
          </a:p>
          <a:p>
            <a:pPr marL="0" indent="0">
              <a:buNone/>
            </a:pPr>
            <a:r>
              <a:rPr lang="en-US" sz="1800" b="1" dirty="0"/>
              <a:t>B. Statistical interpretation</a:t>
            </a:r>
          </a:p>
          <a:p>
            <a:r>
              <a:rPr lang="en-US" sz="1800" dirty="0"/>
              <a:t>The CDF exhibits an S-shaped curve, with its steepest increase occurring approximately between 25 and 35 </a:t>
            </a:r>
            <a:r>
              <a:rPr lang="en-US" sz="1800" dirty="0" err="1"/>
              <a:t>ms.</a:t>
            </a:r>
            <a:endParaRPr lang="en-US" sz="1800" dirty="0"/>
          </a:p>
          <a:p>
            <a:r>
              <a:rPr lang="en-US" sz="1800" dirty="0"/>
              <a:t>This indicates that:</a:t>
            </a:r>
          </a:p>
          <a:p>
            <a:pPr>
              <a:buFont typeface="Arial" panose="020B0604020202020204" pitchFamily="34" charset="0"/>
              <a:buChar char="•"/>
            </a:pPr>
            <a:r>
              <a:rPr lang="en-US" sz="1800" dirty="0"/>
              <a:t>Most packets have inter-arrival times close to 30 </a:t>
            </a:r>
            <a:r>
              <a:rPr lang="en-US" sz="1800" dirty="0" err="1"/>
              <a:t>ms.</a:t>
            </a:r>
            <a:endParaRPr lang="en-US" sz="1800" dirty="0"/>
          </a:p>
          <a:p>
            <a:pPr>
              <a:buFont typeface="Arial" panose="020B0604020202020204" pitchFamily="34" charset="0"/>
              <a:buChar char="•"/>
            </a:pPr>
            <a:r>
              <a:rPr lang="en-US" sz="1800" dirty="0"/>
              <a:t>Approximately 50% of the inter-arrival times are less than or equal to 30 </a:t>
            </a:r>
            <a:r>
              <a:rPr lang="en-US" sz="1800" dirty="0" err="1"/>
              <a:t>ms.</a:t>
            </a:r>
            <a:endParaRPr lang="en-US" sz="1800" dirty="0"/>
          </a:p>
          <a:p>
            <a:pPr>
              <a:buFont typeface="Arial" panose="020B0604020202020204" pitchFamily="34" charset="0"/>
              <a:buChar char="•"/>
            </a:pPr>
            <a:r>
              <a:rPr lang="en-US" sz="1800" dirty="0"/>
              <a:t>Approximately 90% of the inter-arrival times are less than or equal to 43 </a:t>
            </a:r>
            <a:r>
              <a:rPr lang="en-US" sz="1800" dirty="0" err="1"/>
              <a:t>ms.</a:t>
            </a:r>
            <a:endParaRPr lang="en-US" sz="1800" dirty="0"/>
          </a:p>
          <a:p>
            <a:pPr>
              <a:buFont typeface="Arial" panose="020B0604020202020204" pitchFamily="34" charset="0"/>
              <a:buChar char="•"/>
            </a:pPr>
            <a:r>
              <a:rPr lang="en-US" sz="1800" dirty="0"/>
              <a:t>Only a small proportion of intervals exceed 50 </a:t>
            </a:r>
            <a:r>
              <a:rPr lang="en-US" sz="1800" dirty="0" err="1"/>
              <a:t>ms.</a:t>
            </a:r>
            <a:endParaRPr lang="en-US" sz="1800" dirty="0"/>
          </a:p>
          <a:p>
            <a:r>
              <a:rPr lang="en-US" sz="1800" dirty="0"/>
              <a:t>This shape is consistent with a probability distribution concentrated around its central value.</a:t>
            </a:r>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4189473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4C434EE-B057-52E1-E6C7-A0F3DD39553B}"/>
              </a:ext>
            </a:extLst>
          </p:cNvPr>
          <p:cNvSpPr txBox="1">
            <a:spLocks/>
          </p:cNvSpPr>
          <p:nvPr/>
        </p:nvSpPr>
        <p:spPr>
          <a:xfrm>
            <a:off x="117987" y="-2902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Mona Sans VF"/>
              </a:rPr>
              <a:t>Pdf </a:t>
            </a:r>
            <a:r>
              <a:rPr lang="en-US" b="1" dirty="0" err="1">
                <a:latin typeface="Mona Sans VF"/>
              </a:rPr>
              <a:t>Iat</a:t>
            </a:r>
            <a:r>
              <a:rPr lang="en-US" b="1" dirty="0">
                <a:latin typeface="Mona Sans VF"/>
              </a:rPr>
              <a:t> CALCULATION &amp; Analysis  </a:t>
            </a:r>
            <a:endParaRPr lang="en-US" dirty="0"/>
          </a:p>
        </p:txBody>
      </p:sp>
      <p:pic>
        <p:nvPicPr>
          <p:cNvPr id="8" name="Picture 7">
            <a:extLst>
              <a:ext uri="{FF2B5EF4-FFF2-40B4-BE49-F238E27FC236}">
                <a16:creationId xmlns:a16="http://schemas.microsoft.com/office/drawing/2014/main" id="{23CA00B4-7484-C193-A8D1-9EE741537C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252" y="797641"/>
            <a:ext cx="3923071" cy="2942303"/>
          </a:xfrm>
          <a:prstGeom prst="rect">
            <a:avLst/>
          </a:prstGeom>
        </p:spPr>
      </p:pic>
      <p:sp>
        <p:nvSpPr>
          <p:cNvPr id="9" name="Content Placeholder 2">
            <a:extLst>
              <a:ext uri="{FF2B5EF4-FFF2-40B4-BE49-F238E27FC236}">
                <a16:creationId xmlns:a16="http://schemas.microsoft.com/office/drawing/2014/main" id="{F09BE2DA-3682-66F6-D305-3B3A78B516D7}"/>
              </a:ext>
            </a:extLst>
          </p:cNvPr>
          <p:cNvSpPr txBox="1">
            <a:spLocks/>
          </p:cNvSpPr>
          <p:nvPr/>
        </p:nvSpPr>
        <p:spPr>
          <a:xfrm>
            <a:off x="5609467" y="199306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t>A. </a:t>
            </a:r>
            <a:r>
              <a:rPr lang="en-US" sz="1800" b="1" dirty="0" err="1"/>
              <a:t>Interpretasi</a:t>
            </a:r>
            <a:r>
              <a:rPr lang="en-US" sz="1800" b="1" dirty="0"/>
              <a:t> </a:t>
            </a:r>
            <a:r>
              <a:rPr lang="en-US" sz="1800" b="1" dirty="0" err="1"/>
              <a:t>sumbu</a:t>
            </a:r>
            <a:endParaRPr lang="en-US" sz="1800" b="1" dirty="0"/>
          </a:p>
          <a:p>
            <a:pPr>
              <a:buFont typeface="Arial" panose="020B0604020202020204" pitchFamily="34" charset="0"/>
              <a:buChar char="•"/>
            </a:pPr>
            <a:r>
              <a:rPr lang="en-US" sz="1800" dirty="0" err="1"/>
              <a:t>Sumbu</a:t>
            </a:r>
            <a:r>
              <a:rPr lang="en-US" sz="1800" dirty="0"/>
              <a:t> X: inter-arrival time (</a:t>
            </a:r>
            <a:r>
              <a:rPr lang="en-US" sz="1800" dirty="0" err="1"/>
              <a:t>ms</a:t>
            </a:r>
            <a:r>
              <a:rPr lang="en-US" sz="1800" dirty="0"/>
              <a:t>).</a:t>
            </a:r>
          </a:p>
          <a:p>
            <a:pPr>
              <a:buFont typeface="Arial" panose="020B0604020202020204" pitchFamily="34" charset="0"/>
              <a:buChar char="•"/>
            </a:pPr>
            <a:r>
              <a:rPr lang="en-US" sz="1800" dirty="0" err="1"/>
              <a:t>Sumbu</a:t>
            </a:r>
            <a:r>
              <a:rPr lang="en-US" sz="1800" dirty="0"/>
              <a:t> Y: probability density (1/</a:t>
            </a:r>
            <a:r>
              <a:rPr lang="en-US" sz="1800" dirty="0" err="1"/>
              <a:t>ms</a:t>
            </a:r>
            <a:r>
              <a:rPr lang="en-US" sz="1800" dirty="0"/>
              <a:t>).</a:t>
            </a:r>
          </a:p>
        </p:txBody>
      </p:sp>
      <p:pic>
        <p:nvPicPr>
          <p:cNvPr id="11" name="Picture 10">
            <a:extLst>
              <a:ext uri="{FF2B5EF4-FFF2-40B4-BE49-F238E27FC236}">
                <a16:creationId xmlns:a16="http://schemas.microsoft.com/office/drawing/2014/main" id="{3A5D0AAA-4AAC-2DCB-AAA5-E35735548118}"/>
              </a:ext>
            </a:extLst>
          </p:cNvPr>
          <p:cNvPicPr>
            <a:picLocks noChangeAspect="1"/>
          </p:cNvPicPr>
          <p:nvPr/>
        </p:nvPicPr>
        <p:blipFill>
          <a:blip r:embed="rId3"/>
          <a:stretch>
            <a:fillRect/>
          </a:stretch>
        </p:blipFill>
        <p:spPr>
          <a:xfrm>
            <a:off x="6516446" y="1035270"/>
            <a:ext cx="2865823" cy="826474"/>
          </a:xfrm>
          <a:prstGeom prst="rect">
            <a:avLst/>
          </a:prstGeom>
        </p:spPr>
      </p:pic>
      <p:sp>
        <p:nvSpPr>
          <p:cNvPr id="15" name="Content Placeholder 2">
            <a:extLst>
              <a:ext uri="{FF2B5EF4-FFF2-40B4-BE49-F238E27FC236}">
                <a16:creationId xmlns:a16="http://schemas.microsoft.com/office/drawing/2014/main" id="{F3737FFE-FF08-DF4D-C3C5-99D099D31A45}"/>
              </a:ext>
            </a:extLst>
          </p:cNvPr>
          <p:cNvSpPr txBox="1">
            <a:spLocks/>
          </p:cNvSpPr>
          <p:nvPr/>
        </p:nvSpPr>
        <p:spPr>
          <a:xfrm>
            <a:off x="304800" y="3647061"/>
            <a:ext cx="1139952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The histogram shows a single dominant peak near 30 </a:t>
            </a:r>
            <a:r>
              <a:rPr lang="en-US" sz="1800" dirty="0" err="1"/>
              <a:t>ms</a:t>
            </a:r>
            <a:r>
              <a:rPr lang="en-US" sz="1800" dirty="0"/>
              <a:t>, followed by decreasing probability density toward shorter and longer inter-arrival times.</a:t>
            </a:r>
          </a:p>
          <a:p>
            <a:pPr marL="0" indent="0">
              <a:buNone/>
            </a:pPr>
            <a:r>
              <a:rPr lang="en-US" sz="1800" b="1" dirty="0"/>
              <a:t>B. Relationship with the truncated Gaussian distribution</a:t>
            </a:r>
          </a:p>
          <a:p>
            <a:pPr marL="0" indent="0">
              <a:buNone/>
            </a:pPr>
            <a:r>
              <a:rPr lang="en-US" sz="1800" dirty="0"/>
              <a:t>The previous traffic generator configuration used the following parameters: </a:t>
            </a:r>
          </a:p>
          <a:p>
            <a:pPr marL="0" indent="0">
              <a:buNone/>
            </a:pPr>
            <a:endParaRPr lang="en-US" sz="1800" dirty="0"/>
          </a:p>
          <a:p>
            <a:pPr marL="0" indent="0">
              <a:buNone/>
            </a:pPr>
            <a:endParaRPr lang="en-US" sz="1800" dirty="0"/>
          </a:p>
          <a:p>
            <a:pPr marL="0" indent="0">
              <a:buNone/>
            </a:pPr>
            <a:r>
              <a:rPr lang="en-US" sz="1800" dirty="0"/>
              <a:t>The graph shows a peak near 30 </a:t>
            </a:r>
            <a:r>
              <a:rPr lang="en-US" sz="1800" dirty="0" err="1"/>
              <a:t>ms</a:t>
            </a:r>
            <a:r>
              <a:rPr lang="en-US" sz="1800" dirty="0"/>
              <a:t>, which is consistent with the expected center of the distribution. The observed inter-arrival times extend only to approximately 63 </a:t>
            </a:r>
            <a:r>
              <a:rPr lang="en-US" sz="1800" dirty="0" err="1"/>
              <a:t>ms</a:t>
            </a:r>
            <a:r>
              <a:rPr lang="en-US" sz="1800" dirty="0"/>
              <a:t>, even though the configured maximum is 80 </a:t>
            </a:r>
            <a:r>
              <a:rPr lang="en-US" sz="1800" dirty="0" err="1"/>
              <a:t>ms.</a:t>
            </a:r>
            <a:endParaRPr lang="en-US" sz="1800" dirty="0"/>
          </a:p>
        </p:txBody>
      </p:sp>
      <p:pic>
        <p:nvPicPr>
          <p:cNvPr id="17" name="Picture 16">
            <a:extLst>
              <a:ext uri="{FF2B5EF4-FFF2-40B4-BE49-F238E27FC236}">
                <a16:creationId xmlns:a16="http://schemas.microsoft.com/office/drawing/2014/main" id="{61DAF615-AE24-520E-D7B2-7976EB32DD99}"/>
              </a:ext>
            </a:extLst>
          </p:cNvPr>
          <p:cNvPicPr>
            <a:picLocks noChangeAspect="1"/>
          </p:cNvPicPr>
          <p:nvPr/>
        </p:nvPicPr>
        <p:blipFill>
          <a:blip r:embed="rId4"/>
          <a:stretch>
            <a:fillRect/>
          </a:stretch>
        </p:blipFill>
        <p:spPr>
          <a:xfrm>
            <a:off x="7771634" y="4567667"/>
            <a:ext cx="3221270" cy="1182893"/>
          </a:xfrm>
          <a:prstGeom prst="rect">
            <a:avLst/>
          </a:prstGeom>
        </p:spPr>
      </p:pic>
    </p:spTree>
    <p:extLst>
      <p:ext uri="{BB962C8B-B14F-4D97-AF65-F5344CB8AC3E}">
        <p14:creationId xmlns:p14="http://schemas.microsoft.com/office/powerpoint/2010/main" val="4293378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4C434EE-B057-52E1-E6C7-A0F3DD39553B}"/>
              </a:ext>
            </a:extLst>
          </p:cNvPr>
          <p:cNvSpPr txBox="1">
            <a:spLocks/>
          </p:cNvSpPr>
          <p:nvPr/>
        </p:nvSpPr>
        <p:spPr>
          <a:xfrm>
            <a:off x="117987" y="-2902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Mona Sans VF"/>
              </a:rPr>
              <a:t>CDF with packet size &amp; Analysis  </a:t>
            </a:r>
            <a:endParaRPr lang="en-US" dirty="0"/>
          </a:p>
        </p:txBody>
      </p:sp>
      <p:sp>
        <p:nvSpPr>
          <p:cNvPr id="9" name="Content Placeholder 2">
            <a:extLst>
              <a:ext uri="{FF2B5EF4-FFF2-40B4-BE49-F238E27FC236}">
                <a16:creationId xmlns:a16="http://schemas.microsoft.com/office/drawing/2014/main" id="{F09BE2DA-3682-66F6-D305-3B3A78B516D7}"/>
              </a:ext>
            </a:extLst>
          </p:cNvPr>
          <p:cNvSpPr txBox="1">
            <a:spLocks/>
          </p:cNvSpPr>
          <p:nvPr/>
        </p:nvSpPr>
        <p:spPr>
          <a:xfrm>
            <a:off x="5599307" y="80777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The graph indicates that:</a:t>
            </a:r>
          </a:p>
          <a:p>
            <a:pPr marL="0" indent="0">
              <a:buNone/>
            </a:pPr>
            <a:endParaRPr lang="en-US" sz="1800" dirty="0"/>
          </a:p>
          <a:p>
            <a:pPr marL="0" indent="0">
              <a:buNone/>
            </a:pPr>
            <a:endParaRPr lang="en-US" sz="1800" dirty="0"/>
          </a:p>
          <a:p>
            <a:r>
              <a:rPr lang="en-US" sz="1600" dirty="0"/>
              <a:t>This means that 100% of the analyzed packets have a size of 540 bytes.</a:t>
            </a:r>
          </a:p>
          <a:p>
            <a:r>
              <a:rPr lang="en-US" sz="1600" dirty="0"/>
              <a:t>The empirical CDF can therefore be expressed as:</a:t>
            </a:r>
          </a:p>
          <a:p>
            <a:pPr marL="0" indent="0">
              <a:buNone/>
            </a:pPr>
            <a:endParaRPr lang="en-US" sz="1800" dirty="0"/>
          </a:p>
        </p:txBody>
      </p:sp>
      <p:sp>
        <p:nvSpPr>
          <p:cNvPr id="15" name="Content Placeholder 2">
            <a:extLst>
              <a:ext uri="{FF2B5EF4-FFF2-40B4-BE49-F238E27FC236}">
                <a16:creationId xmlns:a16="http://schemas.microsoft.com/office/drawing/2014/main" id="{F3737FFE-FF08-DF4D-C3C5-99D099D31A45}"/>
              </a:ext>
            </a:extLst>
          </p:cNvPr>
          <p:cNvSpPr txBox="1">
            <a:spLocks/>
          </p:cNvSpPr>
          <p:nvPr/>
        </p:nvSpPr>
        <p:spPr>
          <a:xfrm>
            <a:off x="304800" y="3647061"/>
            <a:ext cx="1139952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 In other words:</a:t>
            </a:r>
          </a:p>
          <a:p>
            <a:pPr>
              <a:buFont typeface="Arial" panose="020B0604020202020204" pitchFamily="34" charset="0"/>
              <a:buChar char="•"/>
            </a:pPr>
            <a:r>
              <a:rPr lang="en-US" sz="1600" dirty="0"/>
              <a:t>For packet sizes smaller than 540 bytes, the cumulative probability is 0.</a:t>
            </a:r>
          </a:p>
          <a:p>
            <a:pPr>
              <a:buFont typeface="Arial" panose="020B0604020202020204" pitchFamily="34" charset="0"/>
              <a:buChar char="•"/>
            </a:pPr>
            <a:r>
              <a:rPr lang="en-US" sz="1600" dirty="0"/>
              <a:t>At 540 bytes, the cumulative probability immediately increases to 1.</a:t>
            </a:r>
          </a:p>
          <a:p>
            <a:pPr>
              <a:buFont typeface="Arial" panose="020B0604020202020204" pitchFamily="34" charset="0"/>
              <a:buChar char="•"/>
            </a:pPr>
            <a:r>
              <a:rPr lang="en-US" sz="1600" dirty="0"/>
              <a:t>For packet sizes greater than 540 bytes, the cumulative probability remains 1.</a:t>
            </a:r>
          </a:p>
          <a:p>
            <a:pPr marL="0" indent="0">
              <a:buNone/>
            </a:pPr>
            <a:r>
              <a:rPr lang="en-US" sz="1600" dirty="0"/>
              <a:t>Interpretation of the results : </a:t>
            </a:r>
          </a:p>
          <a:p>
            <a:pPr marL="0" indent="0">
              <a:buNone/>
            </a:pPr>
            <a:r>
              <a:rPr lang="en-US" sz="1600" dirty="0"/>
              <a:t>The packet size CDF is mathematically correct if every analyzed packet has the same size. However, the graph does not demonstrate packet size variability. Therefore, the result is insufficient for evaluating a variable packet size distribution, such as those used in certain XR traffic models.</a:t>
            </a:r>
          </a:p>
          <a:p>
            <a:pPr marL="0" indent="0">
              <a:buNone/>
            </a:pPr>
            <a:endParaRPr lang="en-US" sz="1600" dirty="0"/>
          </a:p>
          <a:p>
            <a:pPr marL="0" indent="0">
              <a:buNone/>
            </a:pPr>
            <a:endParaRPr lang="en-US" sz="1600" dirty="0"/>
          </a:p>
        </p:txBody>
      </p:sp>
      <p:pic>
        <p:nvPicPr>
          <p:cNvPr id="3" name="Picture 2">
            <a:extLst>
              <a:ext uri="{FF2B5EF4-FFF2-40B4-BE49-F238E27FC236}">
                <a16:creationId xmlns:a16="http://schemas.microsoft.com/office/drawing/2014/main" id="{C690E06A-AE78-6C00-1266-113E479E6A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608" y="650163"/>
            <a:ext cx="4446140" cy="2778837"/>
          </a:xfrm>
          <a:prstGeom prst="rect">
            <a:avLst/>
          </a:prstGeom>
        </p:spPr>
      </p:pic>
      <p:pic>
        <p:nvPicPr>
          <p:cNvPr id="6" name="Picture 5">
            <a:extLst>
              <a:ext uri="{FF2B5EF4-FFF2-40B4-BE49-F238E27FC236}">
                <a16:creationId xmlns:a16="http://schemas.microsoft.com/office/drawing/2014/main" id="{02202236-16B3-19D5-1C81-765ED568D365}"/>
              </a:ext>
            </a:extLst>
          </p:cNvPr>
          <p:cNvPicPr>
            <a:picLocks noChangeAspect="1"/>
          </p:cNvPicPr>
          <p:nvPr/>
        </p:nvPicPr>
        <p:blipFill>
          <a:blip r:embed="rId3"/>
          <a:stretch>
            <a:fillRect/>
          </a:stretch>
        </p:blipFill>
        <p:spPr>
          <a:xfrm>
            <a:off x="7925251" y="1179023"/>
            <a:ext cx="1625149" cy="631427"/>
          </a:xfrm>
          <a:prstGeom prst="rect">
            <a:avLst/>
          </a:prstGeom>
        </p:spPr>
      </p:pic>
      <p:pic>
        <p:nvPicPr>
          <p:cNvPr id="10" name="Picture 9">
            <a:extLst>
              <a:ext uri="{FF2B5EF4-FFF2-40B4-BE49-F238E27FC236}">
                <a16:creationId xmlns:a16="http://schemas.microsoft.com/office/drawing/2014/main" id="{386270DF-7D42-7DA7-CA26-220415C91095}"/>
              </a:ext>
            </a:extLst>
          </p:cNvPr>
          <p:cNvPicPr>
            <a:picLocks noChangeAspect="1"/>
          </p:cNvPicPr>
          <p:nvPr/>
        </p:nvPicPr>
        <p:blipFill>
          <a:blip r:embed="rId4"/>
          <a:stretch>
            <a:fillRect/>
          </a:stretch>
        </p:blipFill>
        <p:spPr>
          <a:xfrm>
            <a:off x="7715179" y="2683987"/>
            <a:ext cx="2045292" cy="963074"/>
          </a:xfrm>
          <a:prstGeom prst="rect">
            <a:avLst/>
          </a:prstGeom>
        </p:spPr>
      </p:pic>
    </p:spTree>
    <p:extLst>
      <p:ext uri="{BB962C8B-B14F-4D97-AF65-F5344CB8AC3E}">
        <p14:creationId xmlns:p14="http://schemas.microsoft.com/office/powerpoint/2010/main" val="1705960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4C434EE-B057-52E1-E6C7-A0F3DD39553B}"/>
              </a:ext>
            </a:extLst>
          </p:cNvPr>
          <p:cNvSpPr txBox="1">
            <a:spLocks/>
          </p:cNvSpPr>
          <p:nvPr/>
        </p:nvSpPr>
        <p:spPr>
          <a:xfrm>
            <a:off x="117987" y="-2902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Mona Sans VF"/>
              </a:rPr>
              <a:t>PDF with packet size &amp; Analysis  </a:t>
            </a:r>
            <a:endParaRPr lang="en-US" dirty="0"/>
          </a:p>
        </p:txBody>
      </p:sp>
      <p:sp>
        <p:nvSpPr>
          <p:cNvPr id="9" name="Content Placeholder 2">
            <a:extLst>
              <a:ext uri="{FF2B5EF4-FFF2-40B4-BE49-F238E27FC236}">
                <a16:creationId xmlns:a16="http://schemas.microsoft.com/office/drawing/2014/main" id="{F09BE2DA-3682-66F6-D305-3B3A78B516D7}"/>
              </a:ext>
            </a:extLst>
          </p:cNvPr>
          <p:cNvSpPr txBox="1">
            <a:spLocks/>
          </p:cNvSpPr>
          <p:nvPr/>
        </p:nvSpPr>
        <p:spPr>
          <a:xfrm>
            <a:off x="5650107" y="90937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The fourth graph illustrates the packet size distribution using a single </a:t>
            </a:r>
          </a:p>
          <a:p>
            <a:pPr marL="0" indent="0">
              <a:buNone/>
            </a:pPr>
            <a:r>
              <a:rPr lang="en-US" sz="1600" dirty="0"/>
              <a:t>vertical line at 540 bytes</a:t>
            </a:r>
            <a:r>
              <a:rPr lang="en-US" sz="1100" dirty="0"/>
              <a:t>.</a:t>
            </a:r>
          </a:p>
          <a:p>
            <a:pPr marL="0" indent="0">
              <a:buNone/>
            </a:pPr>
            <a:br>
              <a:rPr lang="en-US" sz="1600" b="1" dirty="0"/>
            </a:br>
            <a:r>
              <a:rPr lang="en-US" sz="1600" b="1" dirty="0"/>
              <a:t>A. Interpretation of the axes</a:t>
            </a:r>
          </a:p>
          <a:p>
            <a:pPr>
              <a:buFont typeface="Arial" panose="020B0604020202020204" pitchFamily="34" charset="0"/>
              <a:buChar char="•"/>
            </a:pPr>
            <a:r>
              <a:rPr lang="en-US" sz="1600" dirty="0"/>
              <a:t>X-axis: Packet size (bytes).</a:t>
            </a:r>
          </a:p>
          <a:p>
            <a:pPr>
              <a:buFont typeface="Arial" panose="020B0604020202020204" pitchFamily="34" charset="0"/>
              <a:buChar char="•"/>
            </a:pPr>
            <a:r>
              <a:rPr lang="en-US" sz="1600" dirty="0"/>
              <a:t>Y-axis: Probability mass.</a:t>
            </a:r>
          </a:p>
          <a:p>
            <a:pPr marL="0" indent="0">
              <a:buNone/>
            </a:pPr>
            <a:endParaRPr lang="en-US" sz="1600" dirty="0"/>
          </a:p>
        </p:txBody>
      </p:sp>
      <p:sp>
        <p:nvSpPr>
          <p:cNvPr id="15" name="Content Placeholder 2">
            <a:extLst>
              <a:ext uri="{FF2B5EF4-FFF2-40B4-BE49-F238E27FC236}">
                <a16:creationId xmlns:a16="http://schemas.microsoft.com/office/drawing/2014/main" id="{F3737FFE-FF08-DF4D-C3C5-99D099D31A45}"/>
              </a:ext>
            </a:extLst>
          </p:cNvPr>
          <p:cNvSpPr txBox="1">
            <a:spLocks/>
          </p:cNvSpPr>
          <p:nvPr/>
        </p:nvSpPr>
        <p:spPr>
          <a:xfrm>
            <a:off x="5543427" y="2911727"/>
            <a:ext cx="1139952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Unlike a continuous PDF histogram, this graph represents probability mass </a:t>
            </a:r>
          </a:p>
          <a:p>
            <a:pPr marL="0" indent="0">
              <a:buNone/>
            </a:pPr>
            <a:r>
              <a:rPr lang="en-US" sz="1600" dirty="0"/>
              <a:t>concentrated at one specific packet size.</a:t>
            </a:r>
          </a:p>
        </p:txBody>
      </p:sp>
      <p:pic>
        <p:nvPicPr>
          <p:cNvPr id="5" name="Picture 4">
            <a:extLst>
              <a:ext uri="{FF2B5EF4-FFF2-40B4-BE49-F238E27FC236}">
                <a16:creationId xmlns:a16="http://schemas.microsoft.com/office/drawing/2014/main" id="{04C9F138-9E24-1E26-1331-9130B9C78F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196" y="909375"/>
            <a:ext cx="4421702" cy="2763564"/>
          </a:xfrm>
          <a:prstGeom prst="rect">
            <a:avLst/>
          </a:prstGeom>
        </p:spPr>
      </p:pic>
    </p:spTree>
    <p:extLst>
      <p:ext uri="{BB962C8B-B14F-4D97-AF65-F5344CB8AC3E}">
        <p14:creationId xmlns:p14="http://schemas.microsoft.com/office/powerpoint/2010/main" val="3740156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8BC02-6B36-703B-771E-314956AFEB75}"/>
              </a:ext>
            </a:extLst>
          </p:cNvPr>
          <p:cNvSpPr>
            <a:spLocks noGrp="1"/>
          </p:cNvSpPr>
          <p:nvPr>
            <p:ph type="title"/>
          </p:nvPr>
        </p:nvSpPr>
        <p:spPr>
          <a:xfrm>
            <a:off x="838200" y="0"/>
            <a:ext cx="10515600" cy="1325563"/>
          </a:xfrm>
        </p:spPr>
        <p:txBody>
          <a:bodyPr/>
          <a:lstStyle/>
          <a:p>
            <a:r>
              <a:rPr lang="en-US" dirty="0"/>
              <a:t>System architecture </a:t>
            </a:r>
          </a:p>
        </p:txBody>
      </p:sp>
      <p:pic>
        <p:nvPicPr>
          <p:cNvPr id="5" name="Content Placeholder 4">
            <a:extLst>
              <a:ext uri="{FF2B5EF4-FFF2-40B4-BE49-F238E27FC236}">
                <a16:creationId xmlns:a16="http://schemas.microsoft.com/office/drawing/2014/main" id="{1E433732-2982-AB32-790C-00309AD323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097" y="1179283"/>
            <a:ext cx="7116097" cy="5337073"/>
          </a:xfrm>
        </p:spPr>
      </p:pic>
      <p:pic>
        <p:nvPicPr>
          <p:cNvPr id="7" name="Picture 6">
            <a:extLst>
              <a:ext uri="{FF2B5EF4-FFF2-40B4-BE49-F238E27FC236}">
                <a16:creationId xmlns:a16="http://schemas.microsoft.com/office/drawing/2014/main" id="{589E55C6-806B-1FF5-982C-A0157CC422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423" y="2256839"/>
            <a:ext cx="4395480" cy="2926322"/>
          </a:xfrm>
          <a:prstGeom prst="rect">
            <a:avLst/>
          </a:prstGeom>
        </p:spPr>
      </p:pic>
    </p:spTree>
    <p:extLst>
      <p:ext uri="{BB962C8B-B14F-4D97-AF65-F5344CB8AC3E}">
        <p14:creationId xmlns:p14="http://schemas.microsoft.com/office/powerpoint/2010/main" val="28353547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552</TotalTime>
  <Words>873</Words>
  <Application>Microsoft Office PowerPoint</Application>
  <PresentationFormat>Widescreen</PresentationFormat>
  <Paragraphs>98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Mona Sans VF</vt:lpstr>
      <vt:lpstr>Arial</vt:lpstr>
      <vt:lpstr>Calibri</vt:lpstr>
      <vt:lpstr>Calibri Light</vt:lpstr>
      <vt:lpstr>Office Theme</vt:lpstr>
      <vt:lpstr>ns-3 setup and Traffic Model   &amp; System Architecture</vt:lpstr>
      <vt:lpstr> 1. ns-3 setup and install </vt:lpstr>
      <vt:lpstr>PowerPoint Presentation</vt:lpstr>
      <vt:lpstr>2. Traffic Model </vt:lpstr>
      <vt:lpstr>PowerPoint Presentation</vt:lpstr>
      <vt:lpstr>PowerPoint Presentation</vt:lpstr>
      <vt:lpstr>PowerPoint Presentation</vt:lpstr>
      <vt:lpstr>PowerPoint Presentation</vt:lpstr>
      <vt:lpstr>PowerPoint Presentation</vt:lpstr>
      <vt:lpstr>CDF with inter-arrival time Analysis </vt:lpstr>
      <vt:lpstr>PowerPoint Presentation</vt:lpstr>
      <vt:lpstr>PowerPoint Presentation</vt:lpstr>
      <vt:lpstr>PowerPoint Presentation</vt:lpstr>
      <vt:lpstr>System architecture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the Influence of Bandwidth on QoS in IP Networks Using NS-3</dc:title>
  <dc:creator>Rahmat</dc:creator>
  <cp:lastModifiedBy>Rahmat</cp:lastModifiedBy>
  <cp:revision>10</cp:revision>
  <dcterms:created xsi:type="dcterms:W3CDTF">2026-09-19T05:14:52Z</dcterms:created>
  <dcterms:modified xsi:type="dcterms:W3CDTF">2026-10-26T06:23:02Z</dcterms:modified>
</cp:coreProperties>
</file>